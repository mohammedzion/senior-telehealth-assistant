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0_0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6" r:id="rId14"/>
  </p:sldIdLst>
  <p:sldSz cx="18288000" cy="10287000"/>
  <p:notesSz cx="6858000" cy="9144000"/>
  <p:embeddedFontLst>
    <p:embeddedFont>
      <p:font typeface="Arimo" panose="020B0604020202020204" charset="0"/>
      <p:regular r:id="rId15"/>
    </p:embeddedFont>
    <p:embeddedFont>
      <p:font typeface="Montserrat Bold" panose="020B0604020202020204" charset="0"/>
      <p:regular r:id="rId16"/>
    </p:embeddedFont>
    <p:embeddedFont>
      <p:font typeface="Playfair Display Bold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957102F-43BD-B36D-5265-7AA713B9A697}" name="RAHUL M" initials="R2" userId="S::rahul.m2025a@vitstudent.ac.in::654a89b8-b5fb-4148-bb2f-9bc41721b9a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4" d="100"/>
          <a:sy n="44" d="100"/>
        </p:scale>
        <p:origin x="660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3.fntdata"/><Relationship Id="rId2" Type="http://schemas.openxmlformats.org/officeDocument/2006/relationships/customXml" Target="../customXml/item2.xml"/><Relationship Id="rId16" Type="http://schemas.openxmlformats.org/officeDocument/2006/relationships/font" Target="fonts/font2.fntdata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font" Target="fonts/font1.fntdata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comments/modernComment_100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CD0CB55-B32F-4731-AFCA-ADCEC65738C3}" authorId="{9957102F-43BD-B36D-5265-7AA713B9A697}" created="2026-03-08T18:24:58.586">
    <pc:sldMkLst xmlns:pc="http://schemas.microsoft.com/office/powerpoint/2013/main/command">
      <pc:docMk/>
      <pc:sldMk cId="0" sldId="256"/>
    </pc:sldMkLst>
    <p188:txBody>
      <a:bodyPr/>
      <a:lstStyle/>
      <a:p>
        <a:r>
          <a:rPr lang="en-SG"/>
          <a:t>Go to File-&gt;Create a copy-&gt;Download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microsoft.com/office/2018/10/relationships/comments" Target="../comments/modernComment_100_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grpSp>
        <p:nvGrpSpPr>
          <p:cNvPr id="3" name="Group 3"/>
          <p:cNvGrpSpPr/>
          <p:nvPr/>
        </p:nvGrpSpPr>
        <p:grpSpPr>
          <a:xfrm>
            <a:off x="632753" y="636360"/>
            <a:ext cx="17103324" cy="1479628"/>
            <a:chOff x="0" y="0"/>
            <a:chExt cx="22804433" cy="1972837"/>
          </a:xfrm>
        </p:grpSpPr>
        <p:grpSp>
          <p:nvGrpSpPr>
            <p:cNvPr id="4" name="Group 4"/>
            <p:cNvGrpSpPr/>
            <p:nvPr/>
          </p:nvGrpSpPr>
          <p:grpSpPr>
            <a:xfrm>
              <a:off x="14170825" y="0"/>
              <a:ext cx="8633608" cy="1747411"/>
              <a:chOff x="0" y="0"/>
              <a:chExt cx="979436" cy="198234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979436" cy="198234"/>
              </a:xfrm>
              <a:custGeom>
                <a:avLst/>
                <a:gdLst/>
                <a:ahLst/>
                <a:cxnLst/>
                <a:rect l="l" t="t" r="r" b="b"/>
                <a:pathLst>
                  <a:path w="979436" h="198234">
                    <a:moveTo>
                      <a:pt x="88476" y="0"/>
                    </a:moveTo>
                    <a:lnTo>
                      <a:pt x="890959" y="0"/>
                    </a:lnTo>
                    <a:cubicBezTo>
                      <a:pt x="939824" y="0"/>
                      <a:pt x="979436" y="39612"/>
                      <a:pt x="979436" y="88476"/>
                    </a:cubicBezTo>
                    <a:lnTo>
                      <a:pt x="979436" y="109758"/>
                    </a:lnTo>
                    <a:cubicBezTo>
                      <a:pt x="979436" y="133223"/>
                      <a:pt x="970114" y="155728"/>
                      <a:pt x="953522" y="172320"/>
                    </a:cubicBezTo>
                    <a:cubicBezTo>
                      <a:pt x="936929" y="188913"/>
                      <a:pt x="914425" y="198234"/>
                      <a:pt x="890959" y="198234"/>
                    </a:cubicBezTo>
                    <a:lnTo>
                      <a:pt x="88476" y="198234"/>
                    </a:lnTo>
                    <a:cubicBezTo>
                      <a:pt x="39612" y="198234"/>
                      <a:pt x="0" y="158622"/>
                      <a:pt x="0" y="109758"/>
                    </a:cubicBezTo>
                    <a:lnTo>
                      <a:pt x="0" y="88476"/>
                    </a:lnTo>
                    <a:cubicBezTo>
                      <a:pt x="0" y="39612"/>
                      <a:pt x="39612" y="0"/>
                      <a:pt x="88476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8C52FF">
                      <a:alpha val="34000"/>
                    </a:srgbClr>
                  </a:gs>
                  <a:gs pos="100000">
                    <a:srgbClr val="00BF63">
                      <a:alpha val="34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-47625"/>
                <a:ext cx="979436" cy="245859"/>
              </a:xfrm>
              <a:prstGeom prst="rect">
                <a:avLst/>
              </a:prstGeom>
            </p:spPr>
            <p:txBody>
              <a:bodyPr lIns="56452" tIns="56452" rIns="56452" bIns="56452" rtlCol="0" anchor="ctr"/>
              <a:lstStyle/>
              <a:p>
                <a:pPr algn="ctr">
                  <a:lnSpc>
                    <a:spcPts val="3440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18542125" y="1128773"/>
              <a:ext cx="1391797" cy="4055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37"/>
                </a:lnSpc>
              </a:pPr>
              <a:r>
                <a:rPr lang="en-US" sz="1812" b="1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ECDS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18487629" y="213128"/>
              <a:ext cx="1446293" cy="953744"/>
            </a:xfrm>
            <a:custGeom>
              <a:avLst/>
              <a:gdLst/>
              <a:ahLst/>
              <a:cxnLst/>
              <a:rect l="l" t="t" r="r" b="b"/>
              <a:pathLst>
                <a:path w="1446293" h="953744">
                  <a:moveTo>
                    <a:pt x="0" y="0"/>
                  </a:moveTo>
                  <a:lnTo>
                    <a:pt x="1446293" y="0"/>
                  </a:lnTo>
                  <a:lnTo>
                    <a:pt x="1446293" y="953745"/>
                  </a:lnTo>
                  <a:lnTo>
                    <a:pt x="0" y="95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2251" t="-36010" r="-12482" b="-53141"/>
              </a:stretch>
            </a:blipFill>
          </p:spPr>
          <p:txBody>
            <a:bodyPr/>
            <a:lstStyle/>
            <a:p>
              <a:endParaRPr lang="en-SG"/>
            </a:p>
          </p:txBody>
        </p:sp>
        <p:grpSp>
          <p:nvGrpSpPr>
            <p:cNvPr id="9" name="Group 9"/>
            <p:cNvGrpSpPr/>
            <p:nvPr/>
          </p:nvGrpSpPr>
          <p:grpSpPr>
            <a:xfrm>
              <a:off x="20167830" y="331442"/>
              <a:ext cx="1084526" cy="1084526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endParaRPr lang="en-SG"/>
              </a:p>
            </p:txBody>
          </p:sp>
        </p:grpSp>
        <p:sp>
          <p:nvSpPr>
            <p:cNvPr id="11" name="Freeform 11"/>
            <p:cNvSpPr/>
            <p:nvPr/>
          </p:nvSpPr>
          <p:spPr>
            <a:xfrm>
              <a:off x="15300917" y="286116"/>
              <a:ext cx="2952803" cy="1011539"/>
            </a:xfrm>
            <a:custGeom>
              <a:avLst/>
              <a:gdLst/>
              <a:ahLst/>
              <a:cxnLst/>
              <a:rect l="l" t="t" r="r" b="b"/>
              <a:pathLst>
                <a:path w="2952803" h="1011539">
                  <a:moveTo>
                    <a:pt x="0" y="0"/>
                  </a:moveTo>
                  <a:lnTo>
                    <a:pt x="2952803" y="0"/>
                  </a:lnTo>
                  <a:lnTo>
                    <a:pt x="2952803" y="1011539"/>
                  </a:lnTo>
                  <a:lnTo>
                    <a:pt x="0" y="10115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95" t="-40049" r="-7054" b="-38629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0" y="0"/>
              <a:ext cx="7273132" cy="1972837"/>
            </a:xfrm>
            <a:custGeom>
              <a:avLst/>
              <a:gdLst/>
              <a:ahLst/>
              <a:cxnLst/>
              <a:rect l="l" t="t" r="r" b="b"/>
              <a:pathLst>
                <a:path w="7273132" h="1972837">
                  <a:moveTo>
                    <a:pt x="0" y="0"/>
                  </a:moveTo>
                  <a:lnTo>
                    <a:pt x="7273132" y="0"/>
                  </a:lnTo>
                  <a:lnTo>
                    <a:pt x="7273132" y="1972837"/>
                  </a:lnTo>
                  <a:lnTo>
                    <a:pt x="0" y="19728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-844108" y="4376608"/>
            <a:ext cx="19976215" cy="1528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588"/>
              </a:lnSpc>
            </a:pPr>
            <a:r>
              <a:rPr lang="en-IN" sz="6000" dirty="0">
                <a:solidFill>
                  <a:schemeClr val="bg1"/>
                </a:solidFill>
                <a:latin typeface="+mj-lt"/>
              </a:rPr>
              <a:t>Senior-Friendly Telehealth &amp; Physiotherapy Navigator</a:t>
            </a:r>
            <a:endParaRPr lang="en-US" sz="6000" b="1" dirty="0">
              <a:solidFill>
                <a:schemeClr val="bg1"/>
              </a:solidFill>
              <a:latin typeface="+mj-lt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5257410" y="7408001"/>
            <a:ext cx="7115499" cy="961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68"/>
              </a:lnSpc>
            </a:pPr>
            <a:r>
              <a:rPr lang="en-US" sz="7268" b="1" dirty="0">
                <a:gradFill>
                  <a:gsLst>
                    <a:gs pos="0">
                      <a:srgbClr val="0D5B2E">
                        <a:alpha val="100000"/>
                      </a:srgbClr>
                    </a:gs>
                    <a:gs pos="100000">
                      <a:srgbClr val="BAFFF5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SYNDICATE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3" name="TextBox 3"/>
          <p:cNvSpPr txBox="1"/>
          <p:nvPr/>
        </p:nvSpPr>
        <p:spPr>
          <a:xfrm>
            <a:off x="2483857" y="2686618"/>
            <a:ext cx="12596178" cy="961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68"/>
              </a:lnSpc>
            </a:pPr>
            <a:r>
              <a:rPr lang="en-US" sz="7268" b="1">
                <a:gradFill>
                  <a:gsLst>
                    <a:gs pos="0">
                      <a:srgbClr val="0D5B2E">
                        <a:alpha val="100000"/>
                      </a:srgbClr>
                    </a:gs>
                    <a:gs pos="100000">
                      <a:srgbClr val="BAFFF5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GUIDELINES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32753" y="4160270"/>
            <a:ext cx="14975733" cy="5543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7666" lvl="1" indent="-338833" algn="l">
              <a:lnSpc>
                <a:spcPts val="4394"/>
              </a:lnSpc>
              <a:buFont typeface="Arial"/>
              <a:buChar char="•"/>
            </a:pPr>
            <a:r>
              <a:rPr lang="en-US" sz="3138" dirty="0">
                <a:solidFill>
                  <a:schemeClr val="bg1"/>
                </a:solidFill>
                <a:latin typeface="Arimo"/>
                <a:ea typeface="Arimo"/>
                <a:cs typeface="Arimo"/>
                <a:sym typeface="Arimo"/>
              </a:rPr>
              <a:t>GitHub Submission: Submit your GitHub repository 8 hours before final evaluation.</a:t>
            </a:r>
          </a:p>
          <a:p>
            <a:pPr marL="677666" lvl="1" indent="-338833" algn="l">
              <a:lnSpc>
                <a:spcPts val="4394"/>
              </a:lnSpc>
              <a:buFont typeface="Arial"/>
              <a:buChar char="•"/>
            </a:pPr>
            <a:r>
              <a:rPr lang="en-US" sz="3138" dirty="0">
                <a:solidFill>
                  <a:schemeClr val="bg1"/>
                </a:solidFill>
                <a:latin typeface="Arimo"/>
                <a:ea typeface="Arimo"/>
                <a:cs typeface="Arimo"/>
                <a:sym typeface="Arimo"/>
              </a:rPr>
              <a:t>Deployment: Deploy the complete project repository (frontend deployment optional).</a:t>
            </a:r>
          </a:p>
          <a:p>
            <a:pPr marL="677666" lvl="1" indent="-338833" algn="l">
              <a:lnSpc>
                <a:spcPts val="4394"/>
              </a:lnSpc>
              <a:buFont typeface="Arial"/>
              <a:buChar char="•"/>
            </a:pPr>
            <a:r>
              <a:rPr lang="en-US" sz="3138" dirty="0">
                <a:solidFill>
                  <a:schemeClr val="bg1"/>
                </a:solidFill>
                <a:latin typeface="Arimo"/>
                <a:ea typeface="Arimo"/>
                <a:cs typeface="Arimo"/>
                <a:sym typeface="Arimo"/>
              </a:rPr>
              <a:t>Plagiarism Check: All submissions will undergo plagiarism verification.</a:t>
            </a:r>
          </a:p>
          <a:p>
            <a:pPr marL="677666" lvl="1" indent="-338833" algn="l">
              <a:lnSpc>
                <a:spcPts val="4394"/>
              </a:lnSpc>
              <a:buFont typeface="Arial"/>
              <a:buChar char="•"/>
            </a:pPr>
            <a:r>
              <a:rPr lang="en-US" sz="3138" dirty="0">
                <a:solidFill>
                  <a:schemeClr val="bg1"/>
                </a:solidFill>
                <a:latin typeface="Arimo"/>
                <a:ea typeface="Arimo"/>
                <a:cs typeface="Arimo"/>
                <a:sym typeface="Arimo"/>
              </a:rPr>
              <a:t>Pitch Format: Round 1 &amp; Round 2 will include a 7-minute project pitch + evaluation.</a:t>
            </a:r>
          </a:p>
          <a:p>
            <a:pPr marL="677666" lvl="1" indent="-338833" algn="l">
              <a:lnSpc>
                <a:spcPts val="4394"/>
              </a:lnSpc>
              <a:buFont typeface="Arial"/>
              <a:buChar char="•"/>
            </a:pPr>
            <a:r>
              <a:rPr lang="en-US" sz="3138" dirty="0">
                <a:solidFill>
                  <a:schemeClr val="bg1"/>
                </a:solidFill>
                <a:latin typeface="Arimo"/>
                <a:ea typeface="Arimo"/>
                <a:cs typeface="Arimo"/>
                <a:sym typeface="Arimo"/>
              </a:rPr>
              <a:t>Team Requirement: Minimum 3 team members must be present during evaluation.</a:t>
            </a:r>
          </a:p>
          <a:p>
            <a:pPr algn="l">
              <a:lnSpc>
                <a:spcPts val="4394"/>
              </a:lnSpc>
              <a:spcBef>
                <a:spcPct val="0"/>
              </a:spcBef>
            </a:pPr>
            <a:endParaRPr lang="en-US" sz="3138" dirty="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632753" y="636360"/>
            <a:ext cx="17103324" cy="1479628"/>
            <a:chOff x="0" y="0"/>
            <a:chExt cx="22804433" cy="1972837"/>
          </a:xfrm>
        </p:grpSpPr>
        <p:grpSp>
          <p:nvGrpSpPr>
            <p:cNvPr id="6" name="Group 6"/>
            <p:cNvGrpSpPr/>
            <p:nvPr/>
          </p:nvGrpSpPr>
          <p:grpSpPr>
            <a:xfrm>
              <a:off x="14170825" y="0"/>
              <a:ext cx="8633608" cy="1747411"/>
              <a:chOff x="0" y="0"/>
              <a:chExt cx="979436" cy="198234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979436" cy="198234"/>
              </a:xfrm>
              <a:custGeom>
                <a:avLst/>
                <a:gdLst/>
                <a:ahLst/>
                <a:cxnLst/>
                <a:rect l="l" t="t" r="r" b="b"/>
                <a:pathLst>
                  <a:path w="979436" h="198234">
                    <a:moveTo>
                      <a:pt x="88476" y="0"/>
                    </a:moveTo>
                    <a:lnTo>
                      <a:pt x="890959" y="0"/>
                    </a:lnTo>
                    <a:cubicBezTo>
                      <a:pt x="939824" y="0"/>
                      <a:pt x="979436" y="39612"/>
                      <a:pt x="979436" y="88476"/>
                    </a:cubicBezTo>
                    <a:lnTo>
                      <a:pt x="979436" y="109758"/>
                    </a:lnTo>
                    <a:cubicBezTo>
                      <a:pt x="979436" y="133223"/>
                      <a:pt x="970114" y="155728"/>
                      <a:pt x="953522" y="172320"/>
                    </a:cubicBezTo>
                    <a:cubicBezTo>
                      <a:pt x="936929" y="188913"/>
                      <a:pt x="914425" y="198234"/>
                      <a:pt x="890959" y="198234"/>
                    </a:cubicBezTo>
                    <a:lnTo>
                      <a:pt x="88476" y="198234"/>
                    </a:lnTo>
                    <a:cubicBezTo>
                      <a:pt x="39612" y="198234"/>
                      <a:pt x="0" y="158622"/>
                      <a:pt x="0" y="109758"/>
                    </a:cubicBezTo>
                    <a:lnTo>
                      <a:pt x="0" y="88476"/>
                    </a:lnTo>
                    <a:cubicBezTo>
                      <a:pt x="0" y="39612"/>
                      <a:pt x="39612" y="0"/>
                      <a:pt x="88476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8C52FF">
                      <a:alpha val="34000"/>
                    </a:srgbClr>
                  </a:gs>
                  <a:gs pos="100000">
                    <a:srgbClr val="00BF63">
                      <a:alpha val="34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979436" cy="245859"/>
              </a:xfrm>
              <a:prstGeom prst="rect">
                <a:avLst/>
              </a:prstGeom>
            </p:spPr>
            <p:txBody>
              <a:bodyPr lIns="56452" tIns="56452" rIns="56452" bIns="56452" rtlCol="0" anchor="ctr"/>
              <a:lstStyle/>
              <a:p>
                <a:pPr algn="ctr">
                  <a:lnSpc>
                    <a:spcPts val="3440"/>
                  </a:lnSpc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18542125" y="1128773"/>
              <a:ext cx="1391797" cy="4055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37"/>
                </a:lnSpc>
              </a:pPr>
              <a:r>
                <a:rPr lang="en-US" sz="1812" b="1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ECDS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18487629" y="213128"/>
              <a:ext cx="1446293" cy="953744"/>
            </a:xfrm>
            <a:custGeom>
              <a:avLst/>
              <a:gdLst/>
              <a:ahLst/>
              <a:cxnLst/>
              <a:rect l="l" t="t" r="r" b="b"/>
              <a:pathLst>
                <a:path w="1446293" h="953744">
                  <a:moveTo>
                    <a:pt x="0" y="0"/>
                  </a:moveTo>
                  <a:lnTo>
                    <a:pt x="1446293" y="0"/>
                  </a:lnTo>
                  <a:lnTo>
                    <a:pt x="1446293" y="953745"/>
                  </a:lnTo>
                  <a:lnTo>
                    <a:pt x="0" y="95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251" t="-36010" r="-12482" b="-53141"/>
              </a:stretch>
            </a:blipFill>
          </p:spPr>
          <p:txBody>
            <a:bodyPr/>
            <a:lstStyle/>
            <a:p>
              <a:endParaRPr lang="en-SG"/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20167830" y="331442"/>
              <a:ext cx="1084526" cy="1084526"/>
              <a:chOff x="0" y="0"/>
              <a:chExt cx="812800" cy="8128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endParaRPr lang="en-SG"/>
              </a:p>
            </p:txBody>
          </p:sp>
        </p:grpSp>
        <p:sp>
          <p:nvSpPr>
            <p:cNvPr id="13" name="Freeform 13"/>
            <p:cNvSpPr/>
            <p:nvPr/>
          </p:nvSpPr>
          <p:spPr>
            <a:xfrm>
              <a:off x="15300917" y="286116"/>
              <a:ext cx="2952803" cy="1011539"/>
            </a:xfrm>
            <a:custGeom>
              <a:avLst/>
              <a:gdLst/>
              <a:ahLst/>
              <a:cxnLst/>
              <a:rect l="l" t="t" r="r" b="b"/>
              <a:pathLst>
                <a:path w="2952803" h="1011539">
                  <a:moveTo>
                    <a:pt x="0" y="0"/>
                  </a:moveTo>
                  <a:lnTo>
                    <a:pt x="2952803" y="0"/>
                  </a:lnTo>
                  <a:lnTo>
                    <a:pt x="2952803" y="1011539"/>
                  </a:lnTo>
                  <a:lnTo>
                    <a:pt x="0" y="10115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95" t="-40049" r="-7054" b="-38629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0" y="0"/>
              <a:ext cx="7273132" cy="1972837"/>
            </a:xfrm>
            <a:custGeom>
              <a:avLst/>
              <a:gdLst/>
              <a:ahLst/>
              <a:cxnLst/>
              <a:rect l="l" t="t" r="r" b="b"/>
              <a:pathLst>
                <a:path w="7273132" h="1972837">
                  <a:moveTo>
                    <a:pt x="0" y="0"/>
                  </a:moveTo>
                  <a:lnTo>
                    <a:pt x="7273132" y="0"/>
                  </a:lnTo>
                  <a:lnTo>
                    <a:pt x="7273132" y="1972837"/>
                  </a:lnTo>
                  <a:lnTo>
                    <a:pt x="0" y="19728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SG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540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SG" dirty="0"/>
          </a:p>
        </p:txBody>
      </p:sp>
      <p:sp>
        <p:nvSpPr>
          <p:cNvPr id="3" name="TextBox 3"/>
          <p:cNvSpPr txBox="1"/>
          <p:nvPr/>
        </p:nvSpPr>
        <p:spPr>
          <a:xfrm>
            <a:off x="2789442" y="2829056"/>
            <a:ext cx="12596178" cy="961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68"/>
              </a:lnSpc>
            </a:pPr>
            <a:r>
              <a:rPr lang="en-US" sz="7268" b="1" dirty="0">
                <a:gradFill>
                  <a:gsLst>
                    <a:gs pos="0">
                      <a:srgbClr val="0D5B2E">
                        <a:alpha val="100000"/>
                      </a:srgbClr>
                    </a:gs>
                    <a:gs pos="100000">
                      <a:srgbClr val="BAFFF5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“PROBLEM STATEMENT”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632753" y="636360"/>
            <a:ext cx="17103324" cy="1479628"/>
            <a:chOff x="0" y="0"/>
            <a:chExt cx="22804433" cy="1972837"/>
          </a:xfrm>
        </p:grpSpPr>
        <p:grpSp>
          <p:nvGrpSpPr>
            <p:cNvPr id="5" name="Group 5"/>
            <p:cNvGrpSpPr/>
            <p:nvPr/>
          </p:nvGrpSpPr>
          <p:grpSpPr>
            <a:xfrm>
              <a:off x="14170825" y="0"/>
              <a:ext cx="8633608" cy="1747411"/>
              <a:chOff x="0" y="0"/>
              <a:chExt cx="979436" cy="198234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979436" cy="198234"/>
              </a:xfrm>
              <a:custGeom>
                <a:avLst/>
                <a:gdLst/>
                <a:ahLst/>
                <a:cxnLst/>
                <a:rect l="l" t="t" r="r" b="b"/>
                <a:pathLst>
                  <a:path w="979436" h="198234">
                    <a:moveTo>
                      <a:pt x="88476" y="0"/>
                    </a:moveTo>
                    <a:lnTo>
                      <a:pt x="890959" y="0"/>
                    </a:lnTo>
                    <a:cubicBezTo>
                      <a:pt x="939824" y="0"/>
                      <a:pt x="979436" y="39612"/>
                      <a:pt x="979436" y="88476"/>
                    </a:cubicBezTo>
                    <a:lnTo>
                      <a:pt x="979436" y="109758"/>
                    </a:lnTo>
                    <a:cubicBezTo>
                      <a:pt x="979436" y="133223"/>
                      <a:pt x="970114" y="155728"/>
                      <a:pt x="953522" y="172320"/>
                    </a:cubicBezTo>
                    <a:cubicBezTo>
                      <a:pt x="936929" y="188913"/>
                      <a:pt x="914425" y="198234"/>
                      <a:pt x="890959" y="198234"/>
                    </a:cubicBezTo>
                    <a:lnTo>
                      <a:pt x="88476" y="198234"/>
                    </a:lnTo>
                    <a:cubicBezTo>
                      <a:pt x="39612" y="198234"/>
                      <a:pt x="0" y="158622"/>
                      <a:pt x="0" y="109758"/>
                    </a:cubicBezTo>
                    <a:lnTo>
                      <a:pt x="0" y="88476"/>
                    </a:lnTo>
                    <a:cubicBezTo>
                      <a:pt x="0" y="39612"/>
                      <a:pt x="39612" y="0"/>
                      <a:pt x="88476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8C52FF">
                      <a:alpha val="34000"/>
                    </a:srgbClr>
                  </a:gs>
                  <a:gs pos="100000">
                    <a:srgbClr val="00BF63">
                      <a:alpha val="34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47625"/>
                <a:ext cx="979436" cy="245859"/>
              </a:xfrm>
              <a:prstGeom prst="rect">
                <a:avLst/>
              </a:prstGeom>
            </p:spPr>
            <p:txBody>
              <a:bodyPr lIns="56452" tIns="56452" rIns="56452" bIns="56452" rtlCol="0" anchor="ctr"/>
              <a:lstStyle/>
              <a:p>
                <a:pPr algn="ctr">
                  <a:lnSpc>
                    <a:spcPts val="3440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18542125" y="1128773"/>
              <a:ext cx="1391797" cy="4055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37"/>
                </a:lnSpc>
              </a:pPr>
              <a:r>
                <a:rPr lang="en-US" sz="1812" b="1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ECDS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18487629" y="213128"/>
              <a:ext cx="1446293" cy="953744"/>
            </a:xfrm>
            <a:custGeom>
              <a:avLst/>
              <a:gdLst/>
              <a:ahLst/>
              <a:cxnLst/>
              <a:rect l="l" t="t" r="r" b="b"/>
              <a:pathLst>
                <a:path w="1446293" h="953744">
                  <a:moveTo>
                    <a:pt x="0" y="0"/>
                  </a:moveTo>
                  <a:lnTo>
                    <a:pt x="1446293" y="0"/>
                  </a:lnTo>
                  <a:lnTo>
                    <a:pt x="1446293" y="953745"/>
                  </a:lnTo>
                  <a:lnTo>
                    <a:pt x="0" y="95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251" t="-36010" r="-12482" b="-53141"/>
              </a:stretch>
            </a:blipFill>
          </p:spPr>
          <p:txBody>
            <a:bodyPr/>
            <a:lstStyle/>
            <a:p>
              <a:endParaRPr lang="en-SG"/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20167830" y="331442"/>
              <a:ext cx="1084526" cy="1084526"/>
              <a:chOff x="0" y="0"/>
              <a:chExt cx="812800" cy="8128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endParaRPr lang="en-SG"/>
              </a:p>
            </p:txBody>
          </p:sp>
        </p:grpSp>
        <p:sp>
          <p:nvSpPr>
            <p:cNvPr id="12" name="Freeform 12"/>
            <p:cNvSpPr/>
            <p:nvPr/>
          </p:nvSpPr>
          <p:spPr>
            <a:xfrm>
              <a:off x="15300917" y="286116"/>
              <a:ext cx="2952803" cy="1011539"/>
            </a:xfrm>
            <a:custGeom>
              <a:avLst/>
              <a:gdLst/>
              <a:ahLst/>
              <a:cxnLst/>
              <a:rect l="l" t="t" r="r" b="b"/>
              <a:pathLst>
                <a:path w="2952803" h="1011539">
                  <a:moveTo>
                    <a:pt x="0" y="0"/>
                  </a:moveTo>
                  <a:lnTo>
                    <a:pt x="2952803" y="0"/>
                  </a:lnTo>
                  <a:lnTo>
                    <a:pt x="2952803" y="1011539"/>
                  </a:lnTo>
                  <a:lnTo>
                    <a:pt x="0" y="10115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95" t="-40049" r="-7054" b="-38629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0" y="0"/>
              <a:ext cx="7273132" cy="1972837"/>
            </a:xfrm>
            <a:custGeom>
              <a:avLst/>
              <a:gdLst/>
              <a:ahLst/>
              <a:cxnLst/>
              <a:rect l="l" t="t" r="r" b="b"/>
              <a:pathLst>
                <a:path w="7273132" h="1972837">
                  <a:moveTo>
                    <a:pt x="0" y="0"/>
                  </a:moveTo>
                  <a:lnTo>
                    <a:pt x="7273132" y="0"/>
                  </a:lnTo>
                  <a:lnTo>
                    <a:pt x="7273132" y="1972837"/>
                  </a:lnTo>
                  <a:lnTo>
                    <a:pt x="0" y="19728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9F749459-2078-F6C1-2A0C-60379E8E646F}"/>
              </a:ext>
            </a:extLst>
          </p:cNvPr>
          <p:cNvSpPr txBox="1"/>
          <p:nvPr/>
        </p:nvSpPr>
        <p:spPr>
          <a:xfrm>
            <a:off x="2953431" y="5103556"/>
            <a:ext cx="122682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Background</a:t>
            </a:r>
          </a:p>
          <a:p>
            <a:r>
              <a:rPr lang="en-US" dirty="0">
                <a:solidFill>
                  <a:schemeClr val="bg1"/>
                </a:solidFill>
              </a:rPr>
              <a:t>Telehealth adoption among elderly patients (65+) is very low due to technological barriers such as:</a:t>
            </a:r>
          </a:p>
          <a:p>
            <a:r>
              <a:rPr lang="en-US" dirty="0">
                <a:solidFill>
                  <a:schemeClr val="bg1"/>
                </a:solidFill>
              </a:rPr>
              <a:t>Forgotten passwords</a:t>
            </a:r>
          </a:p>
          <a:p>
            <a:r>
              <a:rPr lang="en-US" dirty="0">
                <a:solidFill>
                  <a:schemeClr val="bg1"/>
                </a:solidFill>
              </a:rPr>
              <a:t>Microphone or camera permission errors</a:t>
            </a:r>
          </a:p>
          <a:p>
            <a:r>
              <a:rPr lang="en-US" dirty="0">
                <a:solidFill>
                  <a:schemeClr val="bg1"/>
                </a:solidFill>
              </a:rPr>
              <a:t>Confusing meeting interfaces</a:t>
            </a:r>
          </a:p>
          <a:p>
            <a:r>
              <a:rPr lang="en-US" dirty="0">
                <a:solidFill>
                  <a:schemeClr val="bg1"/>
                </a:solidFill>
              </a:rPr>
              <a:t>Difficulty joining video calls</a:t>
            </a:r>
          </a:p>
          <a:p>
            <a:r>
              <a:rPr lang="en-US" dirty="0">
                <a:solidFill>
                  <a:schemeClr val="bg1"/>
                </a:solidFill>
              </a:rPr>
              <a:t>Additionally, physiotherapy patients performing exercises at home </a:t>
            </a:r>
            <a:r>
              <a:rPr lang="en-US" b="1" dirty="0">
                <a:solidFill>
                  <a:schemeClr val="bg1"/>
                </a:solidFill>
              </a:rPr>
              <a:t>lack proper supervision</a:t>
            </a:r>
            <a:r>
              <a:rPr lang="en-US" dirty="0">
                <a:solidFill>
                  <a:schemeClr val="bg1"/>
                </a:solidFill>
              </a:rPr>
              <a:t>, leading to:</a:t>
            </a:r>
          </a:p>
          <a:p>
            <a:r>
              <a:rPr lang="en-US" dirty="0">
                <a:solidFill>
                  <a:schemeClr val="bg1"/>
                </a:solidFill>
              </a:rPr>
              <a:t>Incorrect posture</a:t>
            </a:r>
          </a:p>
          <a:p>
            <a:r>
              <a:rPr lang="en-US" dirty="0">
                <a:solidFill>
                  <a:schemeClr val="bg1"/>
                </a:solidFill>
              </a:rPr>
              <a:t>Reduced therapeutic benefit</a:t>
            </a:r>
          </a:p>
          <a:p>
            <a:r>
              <a:rPr lang="en-US" dirty="0">
                <a:solidFill>
                  <a:schemeClr val="bg1"/>
                </a:solidFill>
              </a:rPr>
              <a:t>Risk of re-injury</a:t>
            </a:r>
          </a:p>
          <a:p>
            <a:r>
              <a:rPr lang="en-US" b="1" dirty="0">
                <a:solidFill>
                  <a:schemeClr val="bg1"/>
                </a:solidFill>
              </a:rPr>
              <a:t>Core Problem</a:t>
            </a:r>
          </a:p>
          <a:p>
            <a:r>
              <a:rPr lang="en-US" dirty="0">
                <a:solidFill>
                  <a:schemeClr val="bg1"/>
                </a:solidFill>
              </a:rPr>
              <a:t>Elderly patients struggle with telehealth systems, and physiotherapists cannot monitor exercise quality between clinic visits.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SG" dirty="0"/>
          </a:p>
        </p:txBody>
      </p:sp>
      <p:sp>
        <p:nvSpPr>
          <p:cNvPr id="3" name="TextBox 3"/>
          <p:cNvSpPr txBox="1"/>
          <p:nvPr/>
        </p:nvSpPr>
        <p:spPr>
          <a:xfrm>
            <a:off x="2983387" y="3074197"/>
            <a:ext cx="12596178" cy="961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68"/>
              </a:lnSpc>
            </a:pPr>
            <a:r>
              <a:rPr lang="en-US" sz="7268" b="1" dirty="0">
                <a:gradFill>
                  <a:gsLst>
                    <a:gs pos="0">
                      <a:srgbClr val="0D5B2E">
                        <a:alpha val="100000"/>
                      </a:srgbClr>
                    </a:gs>
                    <a:gs pos="100000">
                      <a:srgbClr val="BAFFF5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“OUR SOLUTION”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632753" y="636360"/>
            <a:ext cx="17103324" cy="1479628"/>
            <a:chOff x="0" y="0"/>
            <a:chExt cx="22804433" cy="1972837"/>
          </a:xfrm>
        </p:grpSpPr>
        <p:grpSp>
          <p:nvGrpSpPr>
            <p:cNvPr id="5" name="Group 5"/>
            <p:cNvGrpSpPr/>
            <p:nvPr/>
          </p:nvGrpSpPr>
          <p:grpSpPr>
            <a:xfrm>
              <a:off x="14170825" y="0"/>
              <a:ext cx="8633608" cy="1747411"/>
              <a:chOff x="0" y="0"/>
              <a:chExt cx="979436" cy="198234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979436" cy="198234"/>
              </a:xfrm>
              <a:custGeom>
                <a:avLst/>
                <a:gdLst/>
                <a:ahLst/>
                <a:cxnLst/>
                <a:rect l="l" t="t" r="r" b="b"/>
                <a:pathLst>
                  <a:path w="979436" h="198234">
                    <a:moveTo>
                      <a:pt x="88476" y="0"/>
                    </a:moveTo>
                    <a:lnTo>
                      <a:pt x="890959" y="0"/>
                    </a:lnTo>
                    <a:cubicBezTo>
                      <a:pt x="939824" y="0"/>
                      <a:pt x="979436" y="39612"/>
                      <a:pt x="979436" y="88476"/>
                    </a:cubicBezTo>
                    <a:lnTo>
                      <a:pt x="979436" y="109758"/>
                    </a:lnTo>
                    <a:cubicBezTo>
                      <a:pt x="979436" y="133223"/>
                      <a:pt x="970114" y="155728"/>
                      <a:pt x="953522" y="172320"/>
                    </a:cubicBezTo>
                    <a:cubicBezTo>
                      <a:pt x="936929" y="188913"/>
                      <a:pt x="914425" y="198234"/>
                      <a:pt x="890959" y="198234"/>
                    </a:cubicBezTo>
                    <a:lnTo>
                      <a:pt x="88476" y="198234"/>
                    </a:lnTo>
                    <a:cubicBezTo>
                      <a:pt x="39612" y="198234"/>
                      <a:pt x="0" y="158622"/>
                      <a:pt x="0" y="109758"/>
                    </a:cubicBezTo>
                    <a:lnTo>
                      <a:pt x="0" y="88476"/>
                    </a:lnTo>
                    <a:cubicBezTo>
                      <a:pt x="0" y="39612"/>
                      <a:pt x="39612" y="0"/>
                      <a:pt x="88476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8C52FF">
                      <a:alpha val="34000"/>
                    </a:srgbClr>
                  </a:gs>
                  <a:gs pos="100000">
                    <a:srgbClr val="00BF63">
                      <a:alpha val="34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47625"/>
                <a:ext cx="979436" cy="245859"/>
              </a:xfrm>
              <a:prstGeom prst="rect">
                <a:avLst/>
              </a:prstGeom>
            </p:spPr>
            <p:txBody>
              <a:bodyPr lIns="56452" tIns="56452" rIns="56452" bIns="56452" rtlCol="0" anchor="ctr"/>
              <a:lstStyle/>
              <a:p>
                <a:pPr algn="ctr">
                  <a:lnSpc>
                    <a:spcPts val="3440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18542125" y="1128773"/>
              <a:ext cx="1391797" cy="4055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37"/>
                </a:lnSpc>
              </a:pPr>
              <a:r>
                <a:rPr lang="en-US" sz="1812" b="1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ECDS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18487629" y="213128"/>
              <a:ext cx="1446293" cy="953744"/>
            </a:xfrm>
            <a:custGeom>
              <a:avLst/>
              <a:gdLst/>
              <a:ahLst/>
              <a:cxnLst/>
              <a:rect l="l" t="t" r="r" b="b"/>
              <a:pathLst>
                <a:path w="1446293" h="953744">
                  <a:moveTo>
                    <a:pt x="0" y="0"/>
                  </a:moveTo>
                  <a:lnTo>
                    <a:pt x="1446293" y="0"/>
                  </a:lnTo>
                  <a:lnTo>
                    <a:pt x="1446293" y="953745"/>
                  </a:lnTo>
                  <a:lnTo>
                    <a:pt x="0" y="95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251" t="-36010" r="-12482" b="-53141"/>
              </a:stretch>
            </a:blipFill>
          </p:spPr>
          <p:txBody>
            <a:bodyPr/>
            <a:lstStyle/>
            <a:p>
              <a:endParaRPr lang="en-SG"/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20167830" y="331442"/>
              <a:ext cx="1084526" cy="1084526"/>
              <a:chOff x="0" y="0"/>
              <a:chExt cx="812800" cy="8128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endParaRPr lang="en-SG"/>
              </a:p>
            </p:txBody>
          </p:sp>
        </p:grpSp>
        <p:sp>
          <p:nvSpPr>
            <p:cNvPr id="12" name="Freeform 12"/>
            <p:cNvSpPr/>
            <p:nvPr/>
          </p:nvSpPr>
          <p:spPr>
            <a:xfrm>
              <a:off x="15300917" y="286116"/>
              <a:ext cx="2952803" cy="1011539"/>
            </a:xfrm>
            <a:custGeom>
              <a:avLst/>
              <a:gdLst/>
              <a:ahLst/>
              <a:cxnLst/>
              <a:rect l="l" t="t" r="r" b="b"/>
              <a:pathLst>
                <a:path w="2952803" h="1011539">
                  <a:moveTo>
                    <a:pt x="0" y="0"/>
                  </a:moveTo>
                  <a:lnTo>
                    <a:pt x="2952803" y="0"/>
                  </a:lnTo>
                  <a:lnTo>
                    <a:pt x="2952803" y="1011539"/>
                  </a:lnTo>
                  <a:lnTo>
                    <a:pt x="0" y="10115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95" t="-40049" r="-7054" b="-38629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0" y="0"/>
              <a:ext cx="7273132" cy="1972837"/>
            </a:xfrm>
            <a:custGeom>
              <a:avLst/>
              <a:gdLst/>
              <a:ahLst/>
              <a:cxnLst/>
              <a:rect l="l" t="t" r="r" b="b"/>
              <a:pathLst>
                <a:path w="7273132" h="1972837">
                  <a:moveTo>
                    <a:pt x="0" y="0"/>
                  </a:moveTo>
                  <a:lnTo>
                    <a:pt x="7273132" y="0"/>
                  </a:lnTo>
                  <a:lnTo>
                    <a:pt x="7273132" y="1972837"/>
                  </a:lnTo>
                  <a:lnTo>
                    <a:pt x="0" y="19728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868BE9AB-0D1B-1634-C12F-86E020838B04}"/>
              </a:ext>
            </a:extLst>
          </p:cNvPr>
          <p:cNvSpPr txBox="1"/>
          <p:nvPr/>
        </p:nvSpPr>
        <p:spPr>
          <a:xfrm>
            <a:off x="3429000" y="4991100"/>
            <a:ext cx="10134600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We propose an </a:t>
            </a:r>
            <a:r>
              <a:rPr lang="en-US" altLang="en-US" b="1" dirty="0">
                <a:solidFill>
                  <a:schemeClr val="bg1"/>
                </a:solidFill>
                <a:latin typeface="Arial" panose="020B0604020202020204" pitchFamily="34" charset="0"/>
              </a:rPr>
              <a:t>AI-powered Telehealth &amp; Physiotherapy Assistant</a:t>
            </a: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 that helps elderly patients navigate telehealth systems and perform physiotherapy exercises correctly.</a:t>
            </a:r>
            <a:endParaRPr lang="en-US" altLang="en-US" sz="1400" b="1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solidFill>
                  <a:schemeClr val="bg1"/>
                </a:solidFill>
                <a:latin typeface="Arial" panose="020B0604020202020204" pitchFamily="34" charset="0"/>
              </a:rPr>
              <a:t>Key Features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altLang="en-US" sz="1200" b="1" dirty="0">
                <a:solidFill>
                  <a:schemeClr val="bg1"/>
                </a:solidFill>
                <a:latin typeface="Arial" panose="020B0604020202020204" pitchFamily="34" charset="0"/>
              </a:rPr>
              <a:t>Voice-guided telehealth assistance</a:t>
            </a:r>
            <a:endParaRPr lang="en-US" altLang="en-U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Automated call before appointment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Step-by-step tech check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2"/>
            </a:pPr>
            <a:r>
              <a:rPr lang="en-US" altLang="en-US" b="1" dirty="0">
                <a:solidFill>
                  <a:schemeClr val="bg1"/>
                </a:solidFill>
                <a:latin typeface="Arial" panose="020B0604020202020204" pitchFamily="34" charset="0"/>
              </a:rPr>
              <a:t>Real-time exercise monitoring</a:t>
            </a:r>
            <a:endParaRPr lang="en-US" altLang="en-U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Patient uploads exercise video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AI analyzes posture and movement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3"/>
            </a:pPr>
            <a:r>
              <a:rPr lang="en-US" altLang="en-US" b="1" dirty="0">
                <a:solidFill>
                  <a:schemeClr val="bg1"/>
                </a:solidFill>
                <a:latin typeface="Arial" panose="020B0604020202020204" pitchFamily="34" charset="0"/>
              </a:rPr>
              <a:t>Smart feedback system</a:t>
            </a:r>
            <a:endParaRPr lang="en-US" altLang="en-U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Provides simple corrective instructions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4"/>
            </a:pPr>
            <a:r>
              <a:rPr lang="en-US" altLang="en-US" b="1" dirty="0">
                <a:solidFill>
                  <a:schemeClr val="bg1"/>
                </a:solidFill>
                <a:latin typeface="Arial" panose="020B0604020202020204" pitchFamily="34" charset="0"/>
              </a:rPr>
              <a:t>Care continuity tracking</a:t>
            </a:r>
            <a:endParaRPr lang="en-US" altLang="en-U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Logs session data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Generates weekly progress reports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This solution ensures smooth telehealth access and effective physiotherapy at home. 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3" name="TextBox 3"/>
          <p:cNvSpPr txBox="1"/>
          <p:nvPr/>
        </p:nvSpPr>
        <p:spPr>
          <a:xfrm>
            <a:off x="2817978" y="2746905"/>
            <a:ext cx="12652043" cy="976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00"/>
              </a:lnSpc>
            </a:pPr>
            <a:r>
              <a:rPr lang="en-US" sz="7300" b="1" dirty="0">
                <a:gradFill>
                  <a:gsLst>
                    <a:gs pos="0">
                      <a:srgbClr val="0D5B2E">
                        <a:alpha val="100000"/>
                      </a:srgbClr>
                    </a:gs>
                    <a:gs pos="100000">
                      <a:srgbClr val="BAFFF5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“INNOVATION &amp; USP”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632753" y="636360"/>
            <a:ext cx="17103324" cy="1479628"/>
            <a:chOff x="0" y="0"/>
            <a:chExt cx="22804433" cy="1972837"/>
          </a:xfrm>
        </p:grpSpPr>
        <p:grpSp>
          <p:nvGrpSpPr>
            <p:cNvPr id="5" name="Group 5"/>
            <p:cNvGrpSpPr/>
            <p:nvPr/>
          </p:nvGrpSpPr>
          <p:grpSpPr>
            <a:xfrm>
              <a:off x="14170825" y="0"/>
              <a:ext cx="8633608" cy="1747411"/>
              <a:chOff x="0" y="0"/>
              <a:chExt cx="979436" cy="198234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979436" cy="198234"/>
              </a:xfrm>
              <a:custGeom>
                <a:avLst/>
                <a:gdLst/>
                <a:ahLst/>
                <a:cxnLst/>
                <a:rect l="l" t="t" r="r" b="b"/>
                <a:pathLst>
                  <a:path w="979436" h="198234">
                    <a:moveTo>
                      <a:pt x="88476" y="0"/>
                    </a:moveTo>
                    <a:lnTo>
                      <a:pt x="890959" y="0"/>
                    </a:lnTo>
                    <a:cubicBezTo>
                      <a:pt x="939824" y="0"/>
                      <a:pt x="979436" y="39612"/>
                      <a:pt x="979436" y="88476"/>
                    </a:cubicBezTo>
                    <a:lnTo>
                      <a:pt x="979436" y="109758"/>
                    </a:lnTo>
                    <a:cubicBezTo>
                      <a:pt x="979436" y="133223"/>
                      <a:pt x="970114" y="155728"/>
                      <a:pt x="953522" y="172320"/>
                    </a:cubicBezTo>
                    <a:cubicBezTo>
                      <a:pt x="936929" y="188913"/>
                      <a:pt x="914425" y="198234"/>
                      <a:pt x="890959" y="198234"/>
                    </a:cubicBezTo>
                    <a:lnTo>
                      <a:pt x="88476" y="198234"/>
                    </a:lnTo>
                    <a:cubicBezTo>
                      <a:pt x="39612" y="198234"/>
                      <a:pt x="0" y="158622"/>
                      <a:pt x="0" y="109758"/>
                    </a:cubicBezTo>
                    <a:lnTo>
                      <a:pt x="0" y="88476"/>
                    </a:lnTo>
                    <a:cubicBezTo>
                      <a:pt x="0" y="39612"/>
                      <a:pt x="39612" y="0"/>
                      <a:pt x="88476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8C52FF">
                      <a:alpha val="34000"/>
                    </a:srgbClr>
                  </a:gs>
                  <a:gs pos="100000">
                    <a:srgbClr val="00BF63">
                      <a:alpha val="34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47625"/>
                <a:ext cx="979436" cy="245859"/>
              </a:xfrm>
              <a:prstGeom prst="rect">
                <a:avLst/>
              </a:prstGeom>
            </p:spPr>
            <p:txBody>
              <a:bodyPr lIns="56452" tIns="56452" rIns="56452" bIns="56452" rtlCol="0" anchor="ctr"/>
              <a:lstStyle/>
              <a:p>
                <a:pPr algn="ctr">
                  <a:lnSpc>
                    <a:spcPts val="3440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18542125" y="1128773"/>
              <a:ext cx="1391797" cy="4055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37"/>
                </a:lnSpc>
              </a:pPr>
              <a:r>
                <a:rPr lang="en-US" sz="1812" b="1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ECDS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18487629" y="213128"/>
              <a:ext cx="1446293" cy="953744"/>
            </a:xfrm>
            <a:custGeom>
              <a:avLst/>
              <a:gdLst/>
              <a:ahLst/>
              <a:cxnLst/>
              <a:rect l="l" t="t" r="r" b="b"/>
              <a:pathLst>
                <a:path w="1446293" h="953744">
                  <a:moveTo>
                    <a:pt x="0" y="0"/>
                  </a:moveTo>
                  <a:lnTo>
                    <a:pt x="1446293" y="0"/>
                  </a:lnTo>
                  <a:lnTo>
                    <a:pt x="1446293" y="953745"/>
                  </a:lnTo>
                  <a:lnTo>
                    <a:pt x="0" y="95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251" t="-36010" r="-12482" b="-53141"/>
              </a:stretch>
            </a:blipFill>
          </p:spPr>
          <p:txBody>
            <a:bodyPr/>
            <a:lstStyle/>
            <a:p>
              <a:endParaRPr lang="en-SG"/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20167830" y="331442"/>
              <a:ext cx="1084526" cy="1084526"/>
              <a:chOff x="0" y="0"/>
              <a:chExt cx="812800" cy="8128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endParaRPr lang="en-SG"/>
              </a:p>
            </p:txBody>
          </p:sp>
        </p:grpSp>
        <p:sp>
          <p:nvSpPr>
            <p:cNvPr id="12" name="Freeform 12"/>
            <p:cNvSpPr/>
            <p:nvPr/>
          </p:nvSpPr>
          <p:spPr>
            <a:xfrm>
              <a:off x="15300917" y="286116"/>
              <a:ext cx="2952803" cy="1011539"/>
            </a:xfrm>
            <a:custGeom>
              <a:avLst/>
              <a:gdLst/>
              <a:ahLst/>
              <a:cxnLst/>
              <a:rect l="l" t="t" r="r" b="b"/>
              <a:pathLst>
                <a:path w="2952803" h="1011539">
                  <a:moveTo>
                    <a:pt x="0" y="0"/>
                  </a:moveTo>
                  <a:lnTo>
                    <a:pt x="2952803" y="0"/>
                  </a:lnTo>
                  <a:lnTo>
                    <a:pt x="2952803" y="1011539"/>
                  </a:lnTo>
                  <a:lnTo>
                    <a:pt x="0" y="10115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95" t="-40049" r="-7054" b="-38629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0" y="0"/>
              <a:ext cx="7273132" cy="1972837"/>
            </a:xfrm>
            <a:custGeom>
              <a:avLst/>
              <a:gdLst/>
              <a:ahLst/>
              <a:cxnLst/>
              <a:rect l="l" t="t" r="r" b="b"/>
              <a:pathLst>
                <a:path w="7273132" h="1972837">
                  <a:moveTo>
                    <a:pt x="0" y="0"/>
                  </a:moveTo>
                  <a:lnTo>
                    <a:pt x="7273132" y="0"/>
                  </a:lnTo>
                  <a:lnTo>
                    <a:pt x="7273132" y="1972837"/>
                  </a:lnTo>
                  <a:lnTo>
                    <a:pt x="0" y="19728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0AD65B67-8904-8F3C-D367-0CECC4D4DA4B}"/>
              </a:ext>
            </a:extLst>
          </p:cNvPr>
          <p:cNvSpPr txBox="1"/>
          <p:nvPr/>
        </p:nvSpPr>
        <p:spPr>
          <a:xfrm>
            <a:off x="3048000" y="4550307"/>
            <a:ext cx="121920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Key Innovations</a:t>
            </a:r>
          </a:p>
          <a:p>
            <a:r>
              <a:rPr lang="en-IN" b="1" dirty="0">
                <a:solidFill>
                  <a:schemeClr val="bg1"/>
                </a:solidFill>
              </a:rPr>
              <a:t>1. Senior-Friendly AI Assistant</a:t>
            </a:r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Conversational voice guidance designed specifically for elderly users.</a:t>
            </a:r>
          </a:p>
          <a:p>
            <a:r>
              <a:rPr lang="en-IN" b="1" dirty="0">
                <a:solidFill>
                  <a:schemeClr val="bg1"/>
                </a:solidFill>
              </a:rPr>
              <a:t>2. Computer Vision Exercise Analysis</a:t>
            </a:r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AI </a:t>
            </a:r>
            <a:r>
              <a:rPr lang="en-IN" dirty="0" err="1">
                <a:solidFill>
                  <a:schemeClr val="bg1"/>
                </a:solidFill>
              </a:rPr>
              <a:t>analyzes</a:t>
            </a:r>
            <a:r>
              <a:rPr lang="en-IN" dirty="0">
                <a:solidFill>
                  <a:schemeClr val="bg1"/>
                </a:solidFill>
              </a:rPr>
              <a:t> posture, range of motion, and movement control.</a:t>
            </a:r>
          </a:p>
          <a:p>
            <a:r>
              <a:rPr lang="en-IN" b="1" dirty="0">
                <a:solidFill>
                  <a:schemeClr val="bg1"/>
                </a:solidFill>
              </a:rPr>
              <a:t>3. Automatic Tech Support</a:t>
            </a:r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Detects connection problems and suggests fallback solutions.</a:t>
            </a:r>
          </a:p>
          <a:p>
            <a:r>
              <a:rPr lang="en-IN" b="1" dirty="0">
                <a:solidFill>
                  <a:schemeClr val="bg1"/>
                </a:solidFill>
              </a:rPr>
              <a:t>4. Smart Pain Monitoring</a:t>
            </a:r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Alerts physiotherapist if pain increases across sessions.</a:t>
            </a:r>
          </a:p>
          <a:p>
            <a:r>
              <a:rPr lang="en-IN" b="1" dirty="0">
                <a:solidFill>
                  <a:schemeClr val="bg1"/>
                </a:solidFill>
              </a:rPr>
              <a:t>Unique Selling Points (USP)</a:t>
            </a:r>
          </a:p>
          <a:p>
            <a:r>
              <a:rPr lang="en-IN" dirty="0">
                <a:solidFill>
                  <a:schemeClr val="bg1"/>
                </a:solidFill>
              </a:rPr>
              <a:t>AI-driven physiotherapy supervision</a:t>
            </a:r>
          </a:p>
          <a:p>
            <a:r>
              <a:rPr lang="en-IN" dirty="0">
                <a:solidFill>
                  <a:schemeClr val="bg1"/>
                </a:solidFill>
              </a:rPr>
              <a:t>Real-time corrective feedback</a:t>
            </a:r>
          </a:p>
          <a:p>
            <a:r>
              <a:rPr lang="en-IN" dirty="0">
                <a:solidFill>
                  <a:schemeClr val="bg1"/>
                </a:solidFill>
              </a:rPr>
              <a:t>Reduced telehealth dropout rate</a:t>
            </a:r>
          </a:p>
          <a:p>
            <a:r>
              <a:rPr lang="en-IN" dirty="0">
                <a:solidFill>
                  <a:schemeClr val="bg1"/>
                </a:solidFill>
              </a:rPr>
              <a:t>Improved patient recovery outcomes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3" name="TextBox 3"/>
          <p:cNvSpPr txBox="1"/>
          <p:nvPr/>
        </p:nvSpPr>
        <p:spPr>
          <a:xfrm>
            <a:off x="2409227" y="2368675"/>
            <a:ext cx="12652043" cy="1899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00"/>
              </a:lnSpc>
            </a:pPr>
            <a:r>
              <a:rPr lang="en-US" sz="6500" b="1" dirty="0">
                <a:gradFill>
                  <a:gsLst>
                    <a:gs pos="0">
                      <a:srgbClr val="0D5B2E">
                        <a:alpha val="100000"/>
                      </a:srgbClr>
                    </a:gs>
                    <a:gs pos="100000">
                      <a:srgbClr val="BAFFF5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“WORKFLOW DIAGRAM WITH TECH STACK”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632753" y="636360"/>
            <a:ext cx="17103324" cy="1479628"/>
            <a:chOff x="0" y="0"/>
            <a:chExt cx="22804433" cy="1972837"/>
          </a:xfrm>
        </p:grpSpPr>
        <p:grpSp>
          <p:nvGrpSpPr>
            <p:cNvPr id="5" name="Group 5"/>
            <p:cNvGrpSpPr/>
            <p:nvPr/>
          </p:nvGrpSpPr>
          <p:grpSpPr>
            <a:xfrm>
              <a:off x="14170825" y="0"/>
              <a:ext cx="8633608" cy="1747411"/>
              <a:chOff x="0" y="0"/>
              <a:chExt cx="979436" cy="198234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979436" cy="198234"/>
              </a:xfrm>
              <a:custGeom>
                <a:avLst/>
                <a:gdLst/>
                <a:ahLst/>
                <a:cxnLst/>
                <a:rect l="l" t="t" r="r" b="b"/>
                <a:pathLst>
                  <a:path w="979436" h="198234">
                    <a:moveTo>
                      <a:pt x="88476" y="0"/>
                    </a:moveTo>
                    <a:lnTo>
                      <a:pt x="890959" y="0"/>
                    </a:lnTo>
                    <a:cubicBezTo>
                      <a:pt x="939824" y="0"/>
                      <a:pt x="979436" y="39612"/>
                      <a:pt x="979436" y="88476"/>
                    </a:cubicBezTo>
                    <a:lnTo>
                      <a:pt x="979436" y="109758"/>
                    </a:lnTo>
                    <a:cubicBezTo>
                      <a:pt x="979436" y="133223"/>
                      <a:pt x="970114" y="155728"/>
                      <a:pt x="953522" y="172320"/>
                    </a:cubicBezTo>
                    <a:cubicBezTo>
                      <a:pt x="936929" y="188913"/>
                      <a:pt x="914425" y="198234"/>
                      <a:pt x="890959" y="198234"/>
                    </a:cubicBezTo>
                    <a:lnTo>
                      <a:pt x="88476" y="198234"/>
                    </a:lnTo>
                    <a:cubicBezTo>
                      <a:pt x="39612" y="198234"/>
                      <a:pt x="0" y="158622"/>
                      <a:pt x="0" y="109758"/>
                    </a:cubicBezTo>
                    <a:lnTo>
                      <a:pt x="0" y="88476"/>
                    </a:lnTo>
                    <a:cubicBezTo>
                      <a:pt x="0" y="39612"/>
                      <a:pt x="39612" y="0"/>
                      <a:pt x="88476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8C52FF">
                      <a:alpha val="34000"/>
                    </a:srgbClr>
                  </a:gs>
                  <a:gs pos="100000">
                    <a:srgbClr val="00BF63">
                      <a:alpha val="34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47625"/>
                <a:ext cx="979436" cy="245859"/>
              </a:xfrm>
              <a:prstGeom prst="rect">
                <a:avLst/>
              </a:prstGeom>
            </p:spPr>
            <p:txBody>
              <a:bodyPr lIns="56452" tIns="56452" rIns="56452" bIns="56452" rtlCol="0" anchor="ctr"/>
              <a:lstStyle/>
              <a:p>
                <a:pPr algn="ctr">
                  <a:lnSpc>
                    <a:spcPts val="3440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18542125" y="1128773"/>
              <a:ext cx="1391797" cy="4055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37"/>
                </a:lnSpc>
              </a:pPr>
              <a:r>
                <a:rPr lang="en-US" sz="1812" b="1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ECDS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18487629" y="213128"/>
              <a:ext cx="1446293" cy="953744"/>
            </a:xfrm>
            <a:custGeom>
              <a:avLst/>
              <a:gdLst/>
              <a:ahLst/>
              <a:cxnLst/>
              <a:rect l="l" t="t" r="r" b="b"/>
              <a:pathLst>
                <a:path w="1446293" h="953744">
                  <a:moveTo>
                    <a:pt x="0" y="0"/>
                  </a:moveTo>
                  <a:lnTo>
                    <a:pt x="1446293" y="0"/>
                  </a:lnTo>
                  <a:lnTo>
                    <a:pt x="1446293" y="953745"/>
                  </a:lnTo>
                  <a:lnTo>
                    <a:pt x="0" y="95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251" t="-36010" r="-12482" b="-53141"/>
              </a:stretch>
            </a:blipFill>
          </p:spPr>
          <p:txBody>
            <a:bodyPr/>
            <a:lstStyle/>
            <a:p>
              <a:endParaRPr lang="en-SG"/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20167830" y="331442"/>
              <a:ext cx="1084526" cy="1084526"/>
              <a:chOff x="0" y="0"/>
              <a:chExt cx="812800" cy="8128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endParaRPr lang="en-SG"/>
              </a:p>
            </p:txBody>
          </p:sp>
        </p:grpSp>
        <p:sp>
          <p:nvSpPr>
            <p:cNvPr id="12" name="Freeform 12"/>
            <p:cNvSpPr/>
            <p:nvPr/>
          </p:nvSpPr>
          <p:spPr>
            <a:xfrm>
              <a:off x="15300917" y="286116"/>
              <a:ext cx="2952803" cy="1011539"/>
            </a:xfrm>
            <a:custGeom>
              <a:avLst/>
              <a:gdLst/>
              <a:ahLst/>
              <a:cxnLst/>
              <a:rect l="l" t="t" r="r" b="b"/>
              <a:pathLst>
                <a:path w="2952803" h="1011539">
                  <a:moveTo>
                    <a:pt x="0" y="0"/>
                  </a:moveTo>
                  <a:lnTo>
                    <a:pt x="2952803" y="0"/>
                  </a:lnTo>
                  <a:lnTo>
                    <a:pt x="2952803" y="1011539"/>
                  </a:lnTo>
                  <a:lnTo>
                    <a:pt x="0" y="10115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95" t="-40049" r="-7054" b="-38629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0" y="0"/>
              <a:ext cx="7273132" cy="1972837"/>
            </a:xfrm>
            <a:custGeom>
              <a:avLst/>
              <a:gdLst/>
              <a:ahLst/>
              <a:cxnLst/>
              <a:rect l="l" t="t" r="r" b="b"/>
              <a:pathLst>
                <a:path w="7273132" h="1972837">
                  <a:moveTo>
                    <a:pt x="0" y="0"/>
                  </a:moveTo>
                  <a:lnTo>
                    <a:pt x="7273132" y="0"/>
                  </a:lnTo>
                  <a:lnTo>
                    <a:pt x="7273132" y="1972837"/>
                  </a:lnTo>
                  <a:lnTo>
                    <a:pt x="0" y="19728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40FF7B77-D114-E764-28B0-CC3AA80C51AC}"/>
              </a:ext>
            </a:extLst>
          </p:cNvPr>
          <p:cNvSpPr txBox="1"/>
          <p:nvPr/>
        </p:nvSpPr>
        <p:spPr>
          <a:xfrm>
            <a:off x="1066800" y="4732096"/>
            <a:ext cx="6934200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System Workflow</a:t>
            </a:r>
          </a:p>
          <a:p>
            <a:r>
              <a:rPr lang="en-IN" sz="2000" dirty="0">
                <a:solidFill>
                  <a:schemeClr val="bg1"/>
                </a:solidFill>
              </a:rPr>
              <a:t>Patient Appointment Scheduled</a:t>
            </a:r>
            <a:br>
              <a:rPr lang="en-IN" sz="2000" dirty="0">
                <a:solidFill>
                  <a:schemeClr val="bg1"/>
                </a:solidFill>
              </a:rPr>
            </a:br>
            <a:r>
              <a:rPr lang="en-IN" sz="2000" dirty="0">
                <a:solidFill>
                  <a:schemeClr val="bg1"/>
                </a:solidFill>
              </a:rPr>
              <a:t>↓</a:t>
            </a:r>
            <a:br>
              <a:rPr lang="en-IN" sz="2000" dirty="0">
                <a:solidFill>
                  <a:schemeClr val="bg1"/>
                </a:solidFill>
              </a:rPr>
            </a:br>
            <a:r>
              <a:rPr lang="en-IN" sz="2000" dirty="0">
                <a:solidFill>
                  <a:schemeClr val="bg1"/>
                </a:solidFill>
              </a:rPr>
              <a:t>AI Agent calls patient 15 minutes before consultation</a:t>
            </a:r>
            <a:br>
              <a:rPr lang="en-IN" sz="2000" dirty="0">
                <a:solidFill>
                  <a:schemeClr val="bg1"/>
                </a:solidFill>
              </a:rPr>
            </a:br>
            <a:r>
              <a:rPr lang="en-IN" sz="2000" dirty="0">
                <a:solidFill>
                  <a:schemeClr val="bg1"/>
                </a:solidFill>
              </a:rPr>
              <a:t>↓</a:t>
            </a:r>
            <a:br>
              <a:rPr lang="en-IN" sz="2000" dirty="0">
                <a:solidFill>
                  <a:schemeClr val="bg1"/>
                </a:solidFill>
              </a:rPr>
            </a:br>
            <a:r>
              <a:rPr lang="en-IN" sz="2000" dirty="0">
                <a:solidFill>
                  <a:schemeClr val="bg1"/>
                </a:solidFill>
              </a:rPr>
              <a:t>Tech Check (Microphone / Camera / Internet)</a:t>
            </a:r>
            <a:br>
              <a:rPr lang="en-IN" sz="2000" dirty="0">
                <a:solidFill>
                  <a:schemeClr val="bg1"/>
                </a:solidFill>
              </a:rPr>
            </a:br>
            <a:r>
              <a:rPr lang="en-IN" sz="2000" dirty="0">
                <a:solidFill>
                  <a:schemeClr val="bg1"/>
                </a:solidFill>
              </a:rPr>
              <a:t>↓</a:t>
            </a:r>
            <a:br>
              <a:rPr lang="en-IN" sz="2000" dirty="0">
                <a:solidFill>
                  <a:schemeClr val="bg1"/>
                </a:solidFill>
              </a:rPr>
            </a:br>
            <a:r>
              <a:rPr lang="en-IN" sz="2000" dirty="0">
                <a:solidFill>
                  <a:schemeClr val="bg1"/>
                </a:solidFill>
              </a:rPr>
              <a:t>Telehealth Consultation with Doctor</a:t>
            </a:r>
            <a:br>
              <a:rPr lang="en-IN" sz="2000" dirty="0">
                <a:solidFill>
                  <a:schemeClr val="bg1"/>
                </a:solidFill>
              </a:rPr>
            </a:br>
            <a:r>
              <a:rPr lang="en-IN" sz="2000" dirty="0">
                <a:solidFill>
                  <a:schemeClr val="bg1"/>
                </a:solidFill>
              </a:rPr>
              <a:t>↓</a:t>
            </a:r>
            <a:br>
              <a:rPr lang="en-IN" sz="2000" dirty="0">
                <a:solidFill>
                  <a:schemeClr val="bg1"/>
                </a:solidFill>
              </a:rPr>
            </a:br>
            <a:r>
              <a:rPr lang="en-IN" sz="2000" dirty="0">
                <a:solidFill>
                  <a:schemeClr val="bg1"/>
                </a:solidFill>
              </a:rPr>
              <a:t>Patient performs physiotherapy exercises at home</a:t>
            </a:r>
            <a:br>
              <a:rPr lang="en-IN" sz="2000" dirty="0">
                <a:solidFill>
                  <a:schemeClr val="bg1"/>
                </a:solidFill>
              </a:rPr>
            </a:br>
            <a:r>
              <a:rPr lang="en-IN" sz="2000" dirty="0">
                <a:solidFill>
                  <a:schemeClr val="bg1"/>
                </a:solidFill>
              </a:rPr>
              <a:t>↓</a:t>
            </a:r>
            <a:br>
              <a:rPr lang="en-IN" sz="2000" dirty="0">
                <a:solidFill>
                  <a:schemeClr val="bg1"/>
                </a:solidFill>
              </a:rPr>
            </a:br>
            <a:r>
              <a:rPr lang="en-IN" sz="2000" dirty="0">
                <a:solidFill>
                  <a:schemeClr val="bg1"/>
                </a:solidFill>
              </a:rPr>
              <a:t>Video uploaded for AI analysis</a:t>
            </a:r>
            <a:br>
              <a:rPr lang="en-IN" sz="2000" dirty="0">
                <a:solidFill>
                  <a:schemeClr val="bg1"/>
                </a:solidFill>
              </a:rPr>
            </a:br>
            <a:r>
              <a:rPr lang="en-IN" sz="2000" dirty="0">
                <a:solidFill>
                  <a:schemeClr val="bg1"/>
                </a:solidFill>
              </a:rPr>
              <a:t>↓</a:t>
            </a:r>
            <a:br>
              <a:rPr lang="en-IN" sz="2000" dirty="0">
                <a:solidFill>
                  <a:schemeClr val="bg1"/>
                </a:solidFill>
              </a:rPr>
            </a:br>
            <a:r>
              <a:rPr lang="en-IN" sz="2000" dirty="0">
                <a:solidFill>
                  <a:schemeClr val="bg1"/>
                </a:solidFill>
              </a:rPr>
              <a:t>AI detects posture errors and provides feedback</a:t>
            </a:r>
            <a:br>
              <a:rPr lang="en-IN" sz="2000" dirty="0">
                <a:solidFill>
                  <a:schemeClr val="bg1"/>
                </a:solidFill>
              </a:rPr>
            </a:br>
            <a:r>
              <a:rPr lang="en-IN" sz="2000" dirty="0">
                <a:solidFill>
                  <a:schemeClr val="bg1"/>
                </a:solidFill>
              </a:rPr>
              <a:t>↓</a:t>
            </a:r>
            <a:br>
              <a:rPr lang="en-IN" sz="2000" dirty="0">
                <a:solidFill>
                  <a:schemeClr val="bg1"/>
                </a:solidFill>
              </a:rPr>
            </a:br>
            <a:r>
              <a:rPr lang="en-IN" sz="2000" dirty="0">
                <a:solidFill>
                  <a:schemeClr val="bg1"/>
                </a:solidFill>
              </a:rPr>
              <a:t>Session logged and progress report generated for therapist</a:t>
            </a:r>
          </a:p>
          <a:p>
            <a:endParaRPr lang="en-IN" sz="2000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EE1E7A-21E3-AB33-E4E0-F4C224AA075C}"/>
              </a:ext>
            </a:extLst>
          </p:cNvPr>
          <p:cNvSpPr txBox="1"/>
          <p:nvPr/>
        </p:nvSpPr>
        <p:spPr>
          <a:xfrm>
            <a:off x="9046029" y="4526740"/>
            <a:ext cx="7580419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Technology Stack</a:t>
            </a:r>
          </a:p>
          <a:p>
            <a:r>
              <a:rPr lang="en-IN" sz="2000" dirty="0">
                <a:solidFill>
                  <a:schemeClr val="bg1"/>
                </a:solidFill>
              </a:rPr>
              <a:t>Frontend</a:t>
            </a:r>
          </a:p>
          <a:p>
            <a:r>
              <a:rPr lang="en-IN" sz="2000" dirty="0">
                <a:solidFill>
                  <a:schemeClr val="bg1"/>
                </a:solidFill>
              </a:rPr>
              <a:t>React.js</a:t>
            </a:r>
          </a:p>
          <a:p>
            <a:r>
              <a:rPr lang="en-IN" sz="2000" dirty="0">
                <a:solidFill>
                  <a:schemeClr val="bg1"/>
                </a:solidFill>
              </a:rPr>
              <a:t>Tailwind CSS</a:t>
            </a:r>
          </a:p>
          <a:p>
            <a:r>
              <a:rPr lang="en-IN" sz="2000" dirty="0">
                <a:solidFill>
                  <a:schemeClr val="bg1"/>
                </a:solidFill>
              </a:rPr>
              <a:t>Backend</a:t>
            </a:r>
          </a:p>
          <a:p>
            <a:r>
              <a:rPr lang="en-IN" sz="2000" dirty="0">
                <a:solidFill>
                  <a:schemeClr val="bg1"/>
                </a:solidFill>
              </a:rPr>
              <a:t>Node.js</a:t>
            </a:r>
          </a:p>
          <a:p>
            <a:r>
              <a:rPr lang="en-IN" sz="2000" dirty="0">
                <a:solidFill>
                  <a:schemeClr val="bg1"/>
                </a:solidFill>
              </a:rPr>
              <a:t>Express.js</a:t>
            </a:r>
          </a:p>
          <a:p>
            <a:r>
              <a:rPr lang="en-IN" sz="2000" dirty="0">
                <a:solidFill>
                  <a:schemeClr val="bg1"/>
                </a:solidFill>
              </a:rPr>
              <a:t>AI / ML</a:t>
            </a:r>
          </a:p>
          <a:p>
            <a:r>
              <a:rPr lang="en-IN" sz="2000" dirty="0">
                <a:solidFill>
                  <a:schemeClr val="bg1"/>
                </a:solidFill>
              </a:rPr>
              <a:t>Gemini Vision API</a:t>
            </a:r>
          </a:p>
          <a:p>
            <a:r>
              <a:rPr lang="en-IN" sz="2000" dirty="0">
                <a:solidFill>
                  <a:schemeClr val="bg1"/>
                </a:solidFill>
              </a:rPr>
              <a:t>Computer Vision posture analysis</a:t>
            </a:r>
          </a:p>
          <a:p>
            <a:r>
              <a:rPr lang="en-IN" sz="2000" dirty="0">
                <a:solidFill>
                  <a:schemeClr val="bg1"/>
                </a:solidFill>
              </a:rPr>
              <a:t>Database</a:t>
            </a:r>
          </a:p>
          <a:p>
            <a:r>
              <a:rPr lang="en-IN" sz="2000" dirty="0">
                <a:solidFill>
                  <a:schemeClr val="bg1"/>
                </a:solidFill>
              </a:rPr>
              <a:t>MongoDB / PostgreSQL</a:t>
            </a:r>
          </a:p>
          <a:p>
            <a:r>
              <a:rPr lang="en-IN" sz="2000" dirty="0">
                <a:solidFill>
                  <a:schemeClr val="bg1"/>
                </a:solidFill>
              </a:rPr>
              <a:t>Deployment</a:t>
            </a:r>
          </a:p>
          <a:p>
            <a:r>
              <a:rPr lang="en-IN" sz="2000" dirty="0">
                <a:solidFill>
                  <a:schemeClr val="bg1"/>
                </a:solidFill>
              </a:rPr>
              <a:t>GitHub</a:t>
            </a:r>
          </a:p>
          <a:p>
            <a:r>
              <a:rPr lang="en-IN" sz="2000" dirty="0">
                <a:solidFill>
                  <a:schemeClr val="bg1"/>
                </a:solidFill>
              </a:rPr>
              <a:t>Cloud hosting</a:t>
            </a:r>
          </a:p>
          <a:p>
            <a:endParaRPr lang="en-IN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3" name="TextBox 3"/>
          <p:cNvSpPr txBox="1"/>
          <p:nvPr/>
        </p:nvSpPr>
        <p:spPr>
          <a:xfrm>
            <a:off x="2416484" y="2339646"/>
            <a:ext cx="12652043" cy="972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00"/>
              </a:lnSpc>
            </a:pPr>
            <a:r>
              <a:rPr lang="en-US" sz="7300" dirty="0">
                <a:solidFill>
                  <a:schemeClr val="accent5">
                    <a:lumMod val="75000"/>
                  </a:scheme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“</a:t>
            </a:r>
            <a:r>
              <a:rPr lang="en-IN" sz="8000" dirty="0">
                <a:solidFill>
                  <a:schemeClr val="accent5">
                    <a:lumMod val="75000"/>
                  </a:schemeClr>
                </a:solidFill>
              </a:rPr>
              <a:t>AI Features</a:t>
            </a:r>
            <a:r>
              <a:rPr lang="en-US" sz="7300" dirty="0">
                <a:solidFill>
                  <a:schemeClr val="accent5">
                    <a:lumMod val="75000"/>
                  </a:scheme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”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632753" y="636360"/>
            <a:ext cx="17103324" cy="1479628"/>
            <a:chOff x="0" y="0"/>
            <a:chExt cx="22804433" cy="1972837"/>
          </a:xfrm>
        </p:grpSpPr>
        <p:grpSp>
          <p:nvGrpSpPr>
            <p:cNvPr id="5" name="Group 5"/>
            <p:cNvGrpSpPr/>
            <p:nvPr/>
          </p:nvGrpSpPr>
          <p:grpSpPr>
            <a:xfrm>
              <a:off x="14170825" y="0"/>
              <a:ext cx="8633608" cy="1747411"/>
              <a:chOff x="0" y="0"/>
              <a:chExt cx="979436" cy="198234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979436" cy="198234"/>
              </a:xfrm>
              <a:custGeom>
                <a:avLst/>
                <a:gdLst/>
                <a:ahLst/>
                <a:cxnLst/>
                <a:rect l="l" t="t" r="r" b="b"/>
                <a:pathLst>
                  <a:path w="979436" h="198234">
                    <a:moveTo>
                      <a:pt x="88476" y="0"/>
                    </a:moveTo>
                    <a:lnTo>
                      <a:pt x="890959" y="0"/>
                    </a:lnTo>
                    <a:cubicBezTo>
                      <a:pt x="939824" y="0"/>
                      <a:pt x="979436" y="39612"/>
                      <a:pt x="979436" y="88476"/>
                    </a:cubicBezTo>
                    <a:lnTo>
                      <a:pt x="979436" y="109758"/>
                    </a:lnTo>
                    <a:cubicBezTo>
                      <a:pt x="979436" y="133223"/>
                      <a:pt x="970114" y="155728"/>
                      <a:pt x="953522" y="172320"/>
                    </a:cubicBezTo>
                    <a:cubicBezTo>
                      <a:pt x="936929" y="188913"/>
                      <a:pt x="914425" y="198234"/>
                      <a:pt x="890959" y="198234"/>
                    </a:cubicBezTo>
                    <a:lnTo>
                      <a:pt x="88476" y="198234"/>
                    </a:lnTo>
                    <a:cubicBezTo>
                      <a:pt x="39612" y="198234"/>
                      <a:pt x="0" y="158622"/>
                      <a:pt x="0" y="109758"/>
                    </a:cubicBezTo>
                    <a:lnTo>
                      <a:pt x="0" y="88476"/>
                    </a:lnTo>
                    <a:cubicBezTo>
                      <a:pt x="0" y="39612"/>
                      <a:pt x="39612" y="0"/>
                      <a:pt x="88476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8C52FF">
                      <a:alpha val="34000"/>
                    </a:srgbClr>
                  </a:gs>
                  <a:gs pos="100000">
                    <a:srgbClr val="00BF63">
                      <a:alpha val="34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47625"/>
                <a:ext cx="979436" cy="245859"/>
              </a:xfrm>
              <a:prstGeom prst="rect">
                <a:avLst/>
              </a:prstGeom>
            </p:spPr>
            <p:txBody>
              <a:bodyPr lIns="56452" tIns="56452" rIns="56452" bIns="56452" rtlCol="0" anchor="ctr"/>
              <a:lstStyle/>
              <a:p>
                <a:pPr algn="ctr">
                  <a:lnSpc>
                    <a:spcPts val="3440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18542125" y="1128773"/>
              <a:ext cx="1391797" cy="4055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37"/>
                </a:lnSpc>
              </a:pPr>
              <a:r>
                <a:rPr lang="en-US" sz="1812" b="1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ECDS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18487629" y="213128"/>
              <a:ext cx="1446293" cy="953744"/>
            </a:xfrm>
            <a:custGeom>
              <a:avLst/>
              <a:gdLst/>
              <a:ahLst/>
              <a:cxnLst/>
              <a:rect l="l" t="t" r="r" b="b"/>
              <a:pathLst>
                <a:path w="1446293" h="953744">
                  <a:moveTo>
                    <a:pt x="0" y="0"/>
                  </a:moveTo>
                  <a:lnTo>
                    <a:pt x="1446293" y="0"/>
                  </a:lnTo>
                  <a:lnTo>
                    <a:pt x="1446293" y="953745"/>
                  </a:lnTo>
                  <a:lnTo>
                    <a:pt x="0" y="95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251" t="-36010" r="-12482" b="-53141"/>
              </a:stretch>
            </a:blipFill>
          </p:spPr>
          <p:txBody>
            <a:bodyPr/>
            <a:lstStyle/>
            <a:p>
              <a:endParaRPr lang="en-SG"/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20167830" y="331442"/>
              <a:ext cx="1084526" cy="1084526"/>
              <a:chOff x="0" y="0"/>
              <a:chExt cx="812800" cy="8128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endParaRPr lang="en-SG"/>
              </a:p>
            </p:txBody>
          </p:sp>
        </p:grpSp>
        <p:sp>
          <p:nvSpPr>
            <p:cNvPr id="12" name="Freeform 12"/>
            <p:cNvSpPr/>
            <p:nvPr/>
          </p:nvSpPr>
          <p:spPr>
            <a:xfrm>
              <a:off x="15300917" y="286116"/>
              <a:ext cx="2952803" cy="1011539"/>
            </a:xfrm>
            <a:custGeom>
              <a:avLst/>
              <a:gdLst/>
              <a:ahLst/>
              <a:cxnLst/>
              <a:rect l="l" t="t" r="r" b="b"/>
              <a:pathLst>
                <a:path w="2952803" h="1011539">
                  <a:moveTo>
                    <a:pt x="0" y="0"/>
                  </a:moveTo>
                  <a:lnTo>
                    <a:pt x="2952803" y="0"/>
                  </a:lnTo>
                  <a:lnTo>
                    <a:pt x="2952803" y="1011539"/>
                  </a:lnTo>
                  <a:lnTo>
                    <a:pt x="0" y="10115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95" t="-40049" r="-7054" b="-38629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0" y="0"/>
              <a:ext cx="7273132" cy="1972837"/>
            </a:xfrm>
            <a:custGeom>
              <a:avLst/>
              <a:gdLst/>
              <a:ahLst/>
              <a:cxnLst/>
              <a:rect l="l" t="t" r="r" b="b"/>
              <a:pathLst>
                <a:path w="7273132" h="1972837">
                  <a:moveTo>
                    <a:pt x="0" y="0"/>
                  </a:moveTo>
                  <a:lnTo>
                    <a:pt x="7273132" y="0"/>
                  </a:lnTo>
                  <a:lnTo>
                    <a:pt x="7273132" y="1972837"/>
                  </a:lnTo>
                  <a:lnTo>
                    <a:pt x="0" y="19728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E6EA0374-FCB0-42D3-2EB9-FD77041F332E}"/>
              </a:ext>
            </a:extLst>
          </p:cNvPr>
          <p:cNvSpPr txBox="1"/>
          <p:nvPr/>
        </p:nvSpPr>
        <p:spPr>
          <a:xfrm>
            <a:off x="3886200" y="4610100"/>
            <a:ext cx="96774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AI Capabilities</a:t>
            </a:r>
          </a:p>
          <a:p>
            <a:r>
              <a:rPr lang="en-IN" sz="2000" dirty="0">
                <a:solidFill>
                  <a:schemeClr val="bg1"/>
                </a:solidFill>
              </a:rPr>
              <a:t>Voice-based patient guidance</a:t>
            </a:r>
          </a:p>
          <a:p>
            <a:r>
              <a:rPr lang="en-IN" sz="2000" dirty="0">
                <a:solidFill>
                  <a:schemeClr val="bg1"/>
                </a:solidFill>
              </a:rPr>
              <a:t>Computer vision posture detection</a:t>
            </a:r>
          </a:p>
          <a:p>
            <a:r>
              <a:rPr lang="en-IN" sz="2000" dirty="0">
                <a:solidFill>
                  <a:schemeClr val="bg1"/>
                </a:solidFill>
              </a:rPr>
              <a:t>Movement quality scoring</a:t>
            </a:r>
          </a:p>
          <a:p>
            <a:r>
              <a:rPr lang="en-IN" sz="2000" dirty="0">
                <a:solidFill>
                  <a:schemeClr val="bg1"/>
                </a:solidFill>
              </a:rPr>
              <a:t>Automated health reports</a:t>
            </a:r>
          </a:p>
          <a:p>
            <a:r>
              <a:rPr lang="en-IN" sz="2000" b="1" dirty="0">
                <a:solidFill>
                  <a:schemeClr val="bg1"/>
                </a:solidFill>
              </a:rPr>
              <a:t>Agent Intelligence</a:t>
            </a:r>
          </a:p>
          <a:p>
            <a:r>
              <a:rPr lang="en-IN" sz="2000" dirty="0">
                <a:solidFill>
                  <a:schemeClr val="bg1"/>
                </a:solidFill>
              </a:rPr>
              <a:t>The system works as an </a:t>
            </a:r>
            <a:r>
              <a:rPr lang="en-IN" sz="2000" b="1" dirty="0">
                <a:solidFill>
                  <a:schemeClr val="bg1"/>
                </a:solidFill>
              </a:rPr>
              <a:t>AI agent</a:t>
            </a:r>
            <a:r>
              <a:rPr lang="en-IN" sz="2000" dirty="0">
                <a:solidFill>
                  <a:schemeClr val="bg1"/>
                </a:solidFill>
              </a:rPr>
              <a:t> that:</a:t>
            </a:r>
          </a:p>
          <a:p>
            <a:r>
              <a:rPr lang="en-IN" sz="2000" dirty="0">
                <a:solidFill>
                  <a:schemeClr val="bg1"/>
                </a:solidFill>
              </a:rPr>
              <a:t>Perceives patient input</a:t>
            </a:r>
          </a:p>
          <a:p>
            <a:r>
              <a:rPr lang="en-IN" sz="2000" dirty="0" err="1">
                <a:solidFill>
                  <a:schemeClr val="bg1"/>
                </a:solidFill>
              </a:rPr>
              <a:t>Analyzes</a:t>
            </a:r>
            <a:r>
              <a:rPr lang="en-IN" sz="2000" dirty="0">
                <a:solidFill>
                  <a:schemeClr val="bg1"/>
                </a:solidFill>
              </a:rPr>
              <a:t> exercise posture</a:t>
            </a:r>
          </a:p>
          <a:p>
            <a:r>
              <a:rPr lang="en-IN" sz="2000" dirty="0">
                <a:solidFill>
                  <a:schemeClr val="bg1"/>
                </a:solidFill>
              </a:rPr>
              <a:t>Provides corrective feedback</a:t>
            </a:r>
          </a:p>
          <a:p>
            <a:r>
              <a:rPr lang="en-IN" sz="2000" dirty="0">
                <a:solidFill>
                  <a:schemeClr val="bg1"/>
                </a:solidFill>
              </a:rPr>
              <a:t>Logs session outcomes</a:t>
            </a:r>
          </a:p>
          <a:p>
            <a:endParaRPr lang="en-IN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3" name="TextBox 3"/>
          <p:cNvSpPr txBox="1"/>
          <p:nvPr/>
        </p:nvSpPr>
        <p:spPr>
          <a:xfrm>
            <a:off x="2590800" y="2275834"/>
            <a:ext cx="12652043" cy="972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00"/>
              </a:lnSpc>
            </a:pPr>
            <a:r>
              <a:rPr lang="en-US" sz="73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“</a:t>
            </a:r>
            <a:r>
              <a:rPr lang="en-IN" sz="8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Demo Scenario</a:t>
            </a:r>
            <a:r>
              <a:rPr lang="en-US" sz="73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”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632753" y="636360"/>
            <a:ext cx="17103324" cy="1479628"/>
            <a:chOff x="0" y="0"/>
            <a:chExt cx="22804433" cy="1972837"/>
          </a:xfrm>
        </p:grpSpPr>
        <p:grpSp>
          <p:nvGrpSpPr>
            <p:cNvPr id="5" name="Group 5"/>
            <p:cNvGrpSpPr/>
            <p:nvPr/>
          </p:nvGrpSpPr>
          <p:grpSpPr>
            <a:xfrm>
              <a:off x="14170825" y="0"/>
              <a:ext cx="8633608" cy="1747411"/>
              <a:chOff x="0" y="0"/>
              <a:chExt cx="979436" cy="198234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979436" cy="198234"/>
              </a:xfrm>
              <a:custGeom>
                <a:avLst/>
                <a:gdLst/>
                <a:ahLst/>
                <a:cxnLst/>
                <a:rect l="l" t="t" r="r" b="b"/>
                <a:pathLst>
                  <a:path w="979436" h="198234">
                    <a:moveTo>
                      <a:pt x="88476" y="0"/>
                    </a:moveTo>
                    <a:lnTo>
                      <a:pt x="890959" y="0"/>
                    </a:lnTo>
                    <a:cubicBezTo>
                      <a:pt x="939824" y="0"/>
                      <a:pt x="979436" y="39612"/>
                      <a:pt x="979436" y="88476"/>
                    </a:cubicBezTo>
                    <a:lnTo>
                      <a:pt x="979436" y="109758"/>
                    </a:lnTo>
                    <a:cubicBezTo>
                      <a:pt x="979436" y="133223"/>
                      <a:pt x="970114" y="155728"/>
                      <a:pt x="953522" y="172320"/>
                    </a:cubicBezTo>
                    <a:cubicBezTo>
                      <a:pt x="936929" y="188913"/>
                      <a:pt x="914425" y="198234"/>
                      <a:pt x="890959" y="198234"/>
                    </a:cubicBezTo>
                    <a:lnTo>
                      <a:pt x="88476" y="198234"/>
                    </a:lnTo>
                    <a:cubicBezTo>
                      <a:pt x="39612" y="198234"/>
                      <a:pt x="0" y="158622"/>
                      <a:pt x="0" y="109758"/>
                    </a:cubicBezTo>
                    <a:lnTo>
                      <a:pt x="0" y="88476"/>
                    </a:lnTo>
                    <a:cubicBezTo>
                      <a:pt x="0" y="39612"/>
                      <a:pt x="39612" y="0"/>
                      <a:pt x="88476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8C52FF">
                      <a:alpha val="34000"/>
                    </a:srgbClr>
                  </a:gs>
                  <a:gs pos="100000">
                    <a:srgbClr val="00BF63">
                      <a:alpha val="34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47625"/>
                <a:ext cx="979436" cy="245859"/>
              </a:xfrm>
              <a:prstGeom prst="rect">
                <a:avLst/>
              </a:prstGeom>
            </p:spPr>
            <p:txBody>
              <a:bodyPr lIns="56452" tIns="56452" rIns="56452" bIns="56452" rtlCol="0" anchor="ctr"/>
              <a:lstStyle/>
              <a:p>
                <a:pPr algn="ctr">
                  <a:lnSpc>
                    <a:spcPts val="3440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18542125" y="1128773"/>
              <a:ext cx="1391797" cy="4055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37"/>
                </a:lnSpc>
              </a:pPr>
              <a:r>
                <a:rPr lang="en-US" sz="1812" b="1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ECDS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18487629" y="213128"/>
              <a:ext cx="1446293" cy="953744"/>
            </a:xfrm>
            <a:custGeom>
              <a:avLst/>
              <a:gdLst/>
              <a:ahLst/>
              <a:cxnLst/>
              <a:rect l="l" t="t" r="r" b="b"/>
              <a:pathLst>
                <a:path w="1446293" h="953744">
                  <a:moveTo>
                    <a:pt x="0" y="0"/>
                  </a:moveTo>
                  <a:lnTo>
                    <a:pt x="1446293" y="0"/>
                  </a:lnTo>
                  <a:lnTo>
                    <a:pt x="1446293" y="953745"/>
                  </a:lnTo>
                  <a:lnTo>
                    <a:pt x="0" y="95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251" t="-36010" r="-12482" b="-53141"/>
              </a:stretch>
            </a:blipFill>
          </p:spPr>
          <p:txBody>
            <a:bodyPr/>
            <a:lstStyle/>
            <a:p>
              <a:endParaRPr lang="en-SG"/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20167830" y="331442"/>
              <a:ext cx="1084526" cy="1084526"/>
              <a:chOff x="0" y="0"/>
              <a:chExt cx="812800" cy="8128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endParaRPr lang="en-SG"/>
              </a:p>
            </p:txBody>
          </p:sp>
        </p:grpSp>
        <p:sp>
          <p:nvSpPr>
            <p:cNvPr id="12" name="Freeform 12"/>
            <p:cNvSpPr/>
            <p:nvPr/>
          </p:nvSpPr>
          <p:spPr>
            <a:xfrm>
              <a:off x="15300917" y="286116"/>
              <a:ext cx="2952803" cy="1011539"/>
            </a:xfrm>
            <a:custGeom>
              <a:avLst/>
              <a:gdLst/>
              <a:ahLst/>
              <a:cxnLst/>
              <a:rect l="l" t="t" r="r" b="b"/>
              <a:pathLst>
                <a:path w="2952803" h="1011539">
                  <a:moveTo>
                    <a:pt x="0" y="0"/>
                  </a:moveTo>
                  <a:lnTo>
                    <a:pt x="2952803" y="0"/>
                  </a:lnTo>
                  <a:lnTo>
                    <a:pt x="2952803" y="1011539"/>
                  </a:lnTo>
                  <a:lnTo>
                    <a:pt x="0" y="10115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95" t="-40049" r="-7054" b="-38629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0" y="0"/>
              <a:ext cx="7273132" cy="1972837"/>
            </a:xfrm>
            <a:custGeom>
              <a:avLst/>
              <a:gdLst/>
              <a:ahLst/>
              <a:cxnLst/>
              <a:rect l="l" t="t" r="r" b="b"/>
              <a:pathLst>
                <a:path w="7273132" h="1972837">
                  <a:moveTo>
                    <a:pt x="0" y="0"/>
                  </a:moveTo>
                  <a:lnTo>
                    <a:pt x="7273132" y="0"/>
                  </a:lnTo>
                  <a:lnTo>
                    <a:pt x="7273132" y="1972837"/>
                  </a:lnTo>
                  <a:lnTo>
                    <a:pt x="0" y="19728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41187A85-0E49-8416-F7CB-8E98F1427032}"/>
              </a:ext>
            </a:extLst>
          </p:cNvPr>
          <p:cNvSpPr txBox="1"/>
          <p:nvPr/>
        </p:nvSpPr>
        <p:spPr>
          <a:xfrm>
            <a:off x="3360177" y="4152900"/>
            <a:ext cx="11138297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Example Scenario</a:t>
            </a:r>
          </a:p>
          <a:p>
            <a:r>
              <a:rPr lang="en-IN" sz="2000" dirty="0">
                <a:solidFill>
                  <a:schemeClr val="bg1"/>
                </a:solidFill>
              </a:rPr>
              <a:t>Patient: Mr. Kumar (Age 70)</a:t>
            </a:r>
          </a:p>
          <a:p>
            <a:r>
              <a:rPr lang="en-IN" sz="2000" dirty="0">
                <a:solidFill>
                  <a:schemeClr val="bg1"/>
                </a:solidFill>
              </a:rPr>
              <a:t>Appointment: 10:00 AM</a:t>
            </a:r>
          </a:p>
          <a:p>
            <a:r>
              <a:rPr lang="en-IN" sz="2000" dirty="0">
                <a:solidFill>
                  <a:schemeClr val="bg1"/>
                </a:solidFill>
              </a:rPr>
              <a:t>System Actions:</a:t>
            </a:r>
          </a:p>
          <a:p>
            <a:r>
              <a:rPr lang="en-IN" sz="2000" dirty="0">
                <a:solidFill>
                  <a:schemeClr val="bg1"/>
                </a:solidFill>
              </a:rPr>
              <a:t>AI calls patient at 9:45 AM</a:t>
            </a:r>
          </a:p>
          <a:p>
            <a:r>
              <a:rPr lang="en-IN" sz="2000" dirty="0">
                <a:solidFill>
                  <a:schemeClr val="bg1"/>
                </a:solidFill>
              </a:rPr>
              <a:t>Guides through microphone and camera setup</a:t>
            </a:r>
          </a:p>
          <a:p>
            <a:r>
              <a:rPr lang="en-IN" sz="2000" dirty="0">
                <a:solidFill>
                  <a:schemeClr val="bg1"/>
                </a:solidFill>
              </a:rPr>
              <a:t>Doctor consultation begins successfully</a:t>
            </a:r>
          </a:p>
          <a:p>
            <a:r>
              <a:rPr lang="en-IN" sz="2000" dirty="0">
                <a:solidFill>
                  <a:schemeClr val="bg1"/>
                </a:solidFill>
              </a:rPr>
              <a:t>Patient performs knee exercise at home</a:t>
            </a:r>
          </a:p>
          <a:p>
            <a:r>
              <a:rPr lang="en-IN" sz="2000" dirty="0">
                <a:solidFill>
                  <a:schemeClr val="bg1"/>
                </a:solidFill>
              </a:rPr>
              <a:t>AI </a:t>
            </a:r>
            <a:r>
              <a:rPr lang="en-IN" sz="2000" dirty="0" err="1">
                <a:solidFill>
                  <a:schemeClr val="bg1"/>
                </a:solidFill>
              </a:rPr>
              <a:t>analyzes</a:t>
            </a:r>
            <a:r>
              <a:rPr lang="en-IN" sz="2000" dirty="0">
                <a:solidFill>
                  <a:schemeClr val="bg1"/>
                </a:solidFill>
              </a:rPr>
              <a:t> posture</a:t>
            </a:r>
          </a:p>
          <a:p>
            <a:r>
              <a:rPr lang="en-IN" sz="2000" dirty="0">
                <a:solidFill>
                  <a:schemeClr val="bg1"/>
                </a:solidFill>
              </a:rPr>
              <a:t>Provides feedback:</a:t>
            </a:r>
          </a:p>
          <a:p>
            <a:pPr lvl="1"/>
            <a:r>
              <a:rPr lang="en-IN" sz="2000" dirty="0">
                <a:solidFill>
                  <a:schemeClr val="bg1"/>
                </a:solidFill>
              </a:rPr>
              <a:t>“Keep your knee aligned above your toes.”</a:t>
            </a:r>
          </a:p>
          <a:p>
            <a:r>
              <a:rPr lang="en-IN" sz="2000" dirty="0">
                <a:solidFill>
                  <a:schemeClr val="bg1"/>
                </a:solidFill>
              </a:rPr>
              <a:t>Result:</a:t>
            </a:r>
            <a:br>
              <a:rPr lang="en-IN" sz="2000" dirty="0">
                <a:solidFill>
                  <a:schemeClr val="bg1"/>
                </a:solidFill>
              </a:rPr>
            </a:br>
            <a:r>
              <a:rPr lang="en-IN" sz="2000" dirty="0">
                <a:solidFill>
                  <a:schemeClr val="bg1"/>
                </a:solidFill>
              </a:rPr>
              <a:t>Improved exercise quality and better treatment outcomes.</a:t>
            </a:r>
          </a:p>
          <a:p>
            <a:endParaRPr lang="en-IN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3" name="TextBox 3"/>
          <p:cNvSpPr txBox="1"/>
          <p:nvPr/>
        </p:nvSpPr>
        <p:spPr>
          <a:xfrm>
            <a:off x="2667000" y="2473807"/>
            <a:ext cx="12652043" cy="972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00"/>
              </a:lnSpc>
            </a:pPr>
            <a:r>
              <a:rPr lang="en-US" sz="73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“</a:t>
            </a:r>
            <a:r>
              <a:rPr lang="en-IN" sz="8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Expected Impact</a:t>
            </a:r>
            <a:r>
              <a:rPr lang="en-US" sz="73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”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632753" y="636360"/>
            <a:ext cx="17103324" cy="1479628"/>
            <a:chOff x="0" y="0"/>
            <a:chExt cx="22804433" cy="1972837"/>
          </a:xfrm>
        </p:grpSpPr>
        <p:grpSp>
          <p:nvGrpSpPr>
            <p:cNvPr id="5" name="Group 5"/>
            <p:cNvGrpSpPr/>
            <p:nvPr/>
          </p:nvGrpSpPr>
          <p:grpSpPr>
            <a:xfrm>
              <a:off x="14170825" y="0"/>
              <a:ext cx="8633608" cy="1747411"/>
              <a:chOff x="0" y="0"/>
              <a:chExt cx="979436" cy="198234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979436" cy="198234"/>
              </a:xfrm>
              <a:custGeom>
                <a:avLst/>
                <a:gdLst/>
                <a:ahLst/>
                <a:cxnLst/>
                <a:rect l="l" t="t" r="r" b="b"/>
                <a:pathLst>
                  <a:path w="979436" h="198234">
                    <a:moveTo>
                      <a:pt x="88476" y="0"/>
                    </a:moveTo>
                    <a:lnTo>
                      <a:pt x="890959" y="0"/>
                    </a:lnTo>
                    <a:cubicBezTo>
                      <a:pt x="939824" y="0"/>
                      <a:pt x="979436" y="39612"/>
                      <a:pt x="979436" y="88476"/>
                    </a:cubicBezTo>
                    <a:lnTo>
                      <a:pt x="979436" y="109758"/>
                    </a:lnTo>
                    <a:cubicBezTo>
                      <a:pt x="979436" y="133223"/>
                      <a:pt x="970114" y="155728"/>
                      <a:pt x="953522" y="172320"/>
                    </a:cubicBezTo>
                    <a:cubicBezTo>
                      <a:pt x="936929" y="188913"/>
                      <a:pt x="914425" y="198234"/>
                      <a:pt x="890959" y="198234"/>
                    </a:cubicBezTo>
                    <a:lnTo>
                      <a:pt x="88476" y="198234"/>
                    </a:lnTo>
                    <a:cubicBezTo>
                      <a:pt x="39612" y="198234"/>
                      <a:pt x="0" y="158622"/>
                      <a:pt x="0" y="109758"/>
                    </a:cubicBezTo>
                    <a:lnTo>
                      <a:pt x="0" y="88476"/>
                    </a:lnTo>
                    <a:cubicBezTo>
                      <a:pt x="0" y="39612"/>
                      <a:pt x="39612" y="0"/>
                      <a:pt x="88476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8C52FF">
                      <a:alpha val="34000"/>
                    </a:srgbClr>
                  </a:gs>
                  <a:gs pos="100000">
                    <a:srgbClr val="00BF63">
                      <a:alpha val="34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47625"/>
                <a:ext cx="979436" cy="245859"/>
              </a:xfrm>
              <a:prstGeom prst="rect">
                <a:avLst/>
              </a:prstGeom>
            </p:spPr>
            <p:txBody>
              <a:bodyPr lIns="56452" tIns="56452" rIns="56452" bIns="56452" rtlCol="0" anchor="ctr"/>
              <a:lstStyle/>
              <a:p>
                <a:pPr algn="ctr">
                  <a:lnSpc>
                    <a:spcPts val="3440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18542125" y="1128773"/>
              <a:ext cx="1391797" cy="4055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37"/>
                </a:lnSpc>
              </a:pPr>
              <a:r>
                <a:rPr lang="en-US" sz="1812" b="1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ECDS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18487629" y="213128"/>
              <a:ext cx="1446293" cy="953744"/>
            </a:xfrm>
            <a:custGeom>
              <a:avLst/>
              <a:gdLst/>
              <a:ahLst/>
              <a:cxnLst/>
              <a:rect l="l" t="t" r="r" b="b"/>
              <a:pathLst>
                <a:path w="1446293" h="953744">
                  <a:moveTo>
                    <a:pt x="0" y="0"/>
                  </a:moveTo>
                  <a:lnTo>
                    <a:pt x="1446293" y="0"/>
                  </a:lnTo>
                  <a:lnTo>
                    <a:pt x="1446293" y="953745"/>
                  </a:lnTo>
                  <a:lnTo>
                    <a:pt x="0" y="95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251" t="-36010" r="-12482" b="-53141"/>
              </a:stretch>
            </a:blipFill>
          </p:spPr>
          <p:txBody>
            <a:bodyPr/>
            <a:lstStyle/>
            <a:p>
              <a:endParaRPr lang="en-SG"/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20167830" y="331442"/>
              <a:ext cx="1084526" cy="1084526"/>
              <a:chOff x="0" y="0"/>
              <a:chExt cx="812800" cy="8128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endParaRPr lang="en-SG"/>
              </a:p>
            </p:txBody>
          </p:sp>
        </p:grpSp>
        <p:sp>
          <p:nvSpPr>
            <p:cNvPr id="12" name="Freeform 12"/>
            <p:cNvSpPr/>
            <p:nvPr/>
          </p:nvSpPr>
          <p:spPr>
            <a:xfrm>
              <a:off x="15300917" y="286116"/>
              <a:ext cx="2952803" cy="1011539"/>
            </a:xfrm>
            <a:custGeom>
              <a:avLst/>
              <a:gdLst/>
              <a:ahLst/>
              <a:cxnLst/>
              <a:rect l="l" t="t" r="r" b="b"/>
              <a:pathLst>
                <a:path w="2952803" h="1011539">
                  <a:moveTo>
                    <a:pt x="0" y="0"/>
                  </a:moveTo>
                  <a:lnTo>
                    <a:pt x="2952803" y="0"/>
                  </a:lnTo>
                  <a:lnTo>
                    <a:pt x="2952803" y="1011539"/>
                  </a:lnTo>
                  <a:lnTo>
                    <a:pt x="0" y="10115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95" t="-40049" r="-7054" b="-38629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0" y="0"/>
              <a:ext cx="7273132" cy="1972837"/>
            </a:xfrm>
            <a:custGeom>
              <a:avLst/>
              <a:gdLst/>
              <a:ahLst/>
              <a:cxnLst/>
              <a:rect l="l" t="t" r="r" b="b"/>
              <a:pathLst>
                <a:path w="7273132" h="1972837">
                  <a:moveTo>
                    <a:pt x="0" y="0"/>
                  </a:moveTo>
                  <a:lnTo>
                    <a:pt x="7273132" y="0"/>
                  </a:lnTo>
                  <a:lnTo>
                    <a:pt x="7273132" y="1972837"/>
                  </a:lnTo>
                  <a:lnTo>
                    <a:pt x="0" y="19728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AE7A21C8-1D27-A56B-BD60-D9CF4975EA48}"/>
              </a:ext>
            </a:extLst>
          </p:cNvPr>
          <p:cNvSpPr txBox="1"/>
          <p:nvPr/>
        </p:nvSpPr>
        <p:spPr>
          <a:xfrm>
            <a:off x="4495800" y="4762500"/>
            <a:ext cx="83820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Expected Outcomes</a:t>
            </a:r>
          </a:p>
          <a:p>
            <a:r>
              <a:rPr lang="en-US" sz="2000" dirty="0">
                <a:solidFill>
                  <a:schemeClr val="bg1"/>
                </a:solidFill>
              </a:rPr>
              <a:t>Reduced telehealth dropouts among elderly patients</a:t>
            </a:r>
          </a:p>
          <a:p>
            <a:r>
              <a:rPr lang="en-US" sz="2000" dirty="0">
                <a:solidFill>
                  <a:schemeClr val="bg1"/>
                </a:solidFill>
              </a:rPr>
              <a:t>Improved physiotherapy adherence</a:t>
            </a:r>
          </a:p>
          <a:p>
            <a:r>
              <a:rPr lang="en-US" sz="2000" dirty="0">
                <a:solidFill>
                  <a:schemeClr val="bg1"/>
                </a:solidFill>
              </a:rPr>
              <a:t>Real-time monitoring of exercise quality</a:t>
            </a:r>
          </a:p>
          <a:p>
            <a:r>
              <a:rPr lang="en-US" sz="2000" dirty="0">
                <a:solidFill>
                  <a:schemeClr val="bg1"/>
                </a:solidFill>
              </a:rPr>
              <a:t>Better communication between patient and therapist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Healthcare Benefits</a:t>
            </a:r>
          </a:p>
          <a:p>
            <a:r>
              <a:rPr lang="en-US" sz="2000" dirty="0">
                <a:solidFill>
                  <a:schemeClr val="bg1"/>
                </a:solidFill>
              </a:rPr>
              <a:t>Faster patient recovery</a:t>
            </a:r>
          </a:p>
          <a:p>
            <a:r>
              <a:rPr lang="en-US" sz="2000" dirty="0">
                <a:solidFill>
                  <a:schemeClr val="bg1"/>
                </a:solidFill>
              </a:rPr>
              <a:t>Lower risk of injury</a:t>
            </a:r>
          </a:p>
          <a:p>
            <a:r>
              <a:rPr lang="en-US" sz="2000" dirty="0">
                <a:solidFill>
                  <a:schemeClr val="bg1"/>
                </a:solidFill>
              </a:rPr>
              <a:t>Continuous care beyond clinic visits</a:t>
            </a:r>
          </a:p>
          <a:p>
            <a:endParaRPr lang="en-IN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3" name="TextBox 3"/>
          <p:cNvSpPr txBox="1"/>
          <p:nvPr/>
        </p:nvSpPr>
        <p:spPr>
          <a:xfrm>
            <a:off x="2667000" y="2468364"/>
            <a:ext cx="12652043" cy="976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00"/>
              </a:lnSpc>
            </a:pPr>
            <a:r>
              <a:rPr lang="en-US" sz="7300" b="1" dirty="0">
                <a:gradFill>
                  <a:gsLst>
                    <a:gs pos="0">
                      <a:srgbClr val="0D5B2E">
                        <a:alpha val="100000"/>
                      </a:srgbClr>
                    </a:gs>
                    <a:gs pos="100000">
                      <a:srgbClr val="B8F4EB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“TEAM MEMBERS”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632753" y="636360"/>
            <a:ext cx="17103324" cy="1479628"/>
            <a:chOff x="0" y="0"/>
            <a:chExt cx="22804433" cy="1972837"/>
          </a:xfrm>
        </p:grpSpPr>
        <p:grpSp>
          <p:nvGrpSpPr>
            <p:cNvPr id="5" name="Group 5"/>
            <p:cNvGrpSpPr/>
            <p:nvPr/>
          </p:nvGrpSpPr>
          <p:grpSpPr>
            <a:xfrm>
              <a:off x="14170825" y="0"/>
              <a:ext cx="8633608" cy="1747411"/>
              <a:chOff x="0" y="0"/>
              <a:chExt cx="979436" cy="198234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979436" cy="198234"/>
              </a:xfrm>
              <a:custGeom>
                <a:avLst/>
                <a:gdLst/>
                <a:ahLst/>
                <a:cxnLst/>
                <a:rect l="l" t="t" r="r" b="b"/>
                <a:pathLst>
                  <a:path w="979436" h="198234">
                    <a:moveTo>
                      <a:pt x="88476" y="0"/>
                    </a:moveTo>
                    <a:lnTo>
                      <a:pt x="890959" y="0"/>
                    </a:lnTo>
                    <a:cubicBezTo>
                      <a:pt x="939824" y="0"/>
                      <a:pt x="979436" y="39612"/>
                      <a:pt x="979436" y="88476"/>
                    </a:cubicBezTo>
                    <a:lnTo>
                      <a:pt x="979436" y="109758"/>
                    </a:lnTo>
                    <a:cubicBezTo>
                      <a:pt x="979436" y="133223"/>
                      <a:pt x="970114" y="155728"/>
                      <a:pt x="953522" y="172320"/>
                    </a:cubicBezTo>
                    <a:cubicBezTo>
                      <a:pt x="936929" y="188913"/>
                      <a:pt x="914425" y="198234"/>
                      <a:pt x="890959" y="198234"/>
                    </a:cubicBezTo>
                    <a:lnTo>
                      <a:pt x="88476" y="198234"/>
                    </a:lnTo>
                    <a:cubicBezTo>
                      <a:pt x="39612" y="198234"/>
                      <a:pt x="0" y="158622"/>
                      <a:pt x="0" y="109758"/>
                    </a:cubicBezTo>
                    <a:lnTo>
                      <a:pt x="0" y="88476"/>
                    </a:lnTo>
                    <a:cubicBezTo>
                      <a:pt x="0" y="39612"/>
                      <a:pt x="39612" y="0"/>
                      <a:pt x="88476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8C52FF">
                      <a:alpha val="34000"/>
                    </a:srgbClr>
                  </a:gs>
                  <a:gs pos="100000">
                    <a:srgbClr val="00BF63">
                      <a:alpha val="34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47625"/>
                <a:ext cx="979436" cy="245859"/>
              </a:xfrm>
              <a:prstGeom prst="rect">
                <a:avLst/>
              </a:prstGeom>
            </p:spPr>
            <p:txBody>
              <a:bodyPr lIns="56452" tIns="56452" rIns="56452" bIns="56452" rtlCol="0" anchor="ctr"/>
              <a:lstStyle/>
              <a:p>
                <a:pPr algn="ctr">
                  <a:lnSpc>
                    <a:spcPts val="3440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18542125" y="1128773"/>
              <a:ext cx="1391797" cy="4055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37"/>
                </a:lnSpc>
              </a:pPr>
              <a:r>
                <a:rPr lang="en-US" sz="1812" b="1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ECDS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18487629" y="213128"/>
              <a:ext cx="1446293" cy="953744"/>
            </a:xfrm>
            <a:custGeom>
              <a:avLst/>
              <a:gdLst/>
              <a:ahLst/>
              <a:cxnLst/>
              <a:rect l="l" t="t" r="r" b="b"/>
              <a:pathLst>
                <a:path w="1446293" h="953744">
                  <a:moveTo>
                    <a:pt x="0" y="0"/>
                  </a:moveTo>
                  <a:lnTo>
                    <a:pt x="1446293" y="0"/>
                  </a:lnTo>
                  <a:lnTo>
                    <a:pt x="1446293" y="953745"/>
                  </a:lnTo>
                  <a:lnTo>
                    <a:pt x="0" y="95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251" t="-36010" r="-12482" b="-53141"/>
              </a:stretch>
            </a:blipFill>
          </p:spPr>
          <p:txBody>
            <a:bodyPr/>
            <a:lstStyle/>
            <a:p>
              <a:endParaRPr lang="en-SG"/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20167830" y="331442"/>
              <a:ext cx="1084526" cy="1084526"/>
              <a:chOff x="0" y="0"/>
              <a:chExt cx="812800" cy="8128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endParaRPr lang="en-SG"/>
              </a:p>
            </p:txBody>
          </p:sp>
        </p:grpSp>
        <p:sp>
          <p:nvSpPr>
            <p:cNvPr id="12" name="Freeform 12"/>
            <p:cNvSpPr/>
            <p:nvPr/>
          </p:nvSpPr>
          <p:spPr>
            <a:xfrm>
              <a:off x="15300917" y="286116"/>
              <a:ext cx="2952803" cy="1011539"/>
            </a:xfrm>
            <a:custGeom>
              <a:avLst/>
              <a:gdLst/>
              <a:ahLst/>
              <a:cxnLst/>
              <a:rect l="l" t="t" r="r" b="b"/>
              <a:pathLst>
                <a:path w="2952803" h="1011539">
                  <a:moveTo>
                    <a:pt x="0" y="0"/>
                  </a:moveTo>
                  <a:lnTo>
                    <a:pt x="2952803" y="0"/>
                  </a:lnTo>
                  <a:lnTo>
                    <a:pt x="2952803" y="1011539"/>
                  </a:lnTo>
                  <a:lnTo>
                    <a:pt x="0" y="10115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95" t="-40049" r="-7054" b="-38629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0" y="0"/>
              <a:ext cx="7273132" cy="1972837"/>
            </a:xfrm>
            <a:custGeom>
              <a:avLst/>
              <a:gdLst/>
              <a:ahLst/>
              <a:cxnLst/>
              <a:rect l="l" t="t" r="r" b="b"/>
              <a:pathLst>
                <a:path w="7273132" h="1972837">
                  <a:moveTo>
                    <a:pt x="0" y="0"/>
                  </a:moveTo>
                  <a:lnTo>
                    <a:pt x="7273132" y="0"/>
                  </a:lnTo>
                  <a:lnTo>
                    <a:pt x="7273132" y="1972837"/>
                  </a:lnTo>
                  <a:lnTo>
                    <a:pt x="0" y="19728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1990FE3E-613A-A391-18DE-8BBBFF46C95C}"/>
              </a:ext>
            </a:extLst>
          </p:cNvPr>
          <p:cNvSpPr txBox="1"/>
          <p:nvPr/>
        </p:nvSpPr>
        <p:spPr>
          <a:xfrm>
            <a:off x="4191000" y="4686300"/>
            <a:ext cx="1112804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Zion                   - 24BAI1383</a:t>
            </a:r>
          </a:p>
          <a:p>
            <a:r>
              <a:rPr lang="en-IN" sz="2400" dirty="0">
                <a:solidFill>
                  <a:schemeClr val="bg1"/>
                </a:solidFill>
              </a:rPr>
              <a:t>Vinay Sunkara - 24BAI1477</a:t>
            </a:r>
          </a:p>
          <a:p>
            <a:r>
              <a:rPr lang="en-IN" sz="2400" dirty="0">
                <a:solidFill>
                  <a:schemeClr val="bg1"/>
                </a:solidFill>
              </a:rPr>
              <a:t>Tarun Kumar   - 24BAI1462</a:t>
            </a:r>
          </a:p>
          <a:p>
            <a:r>
              <a:rPr lang="en-IN" sz="2400" dirty="0">
                <a:solidFill>
                  <a:schemeClr val="bg1"/>
                </a:solidFill>
              </a:rPr>
              <a:t>Jagath              -   24BAI1542</a:t>
            </a:r>
          </a:p>
          <a:p>
            <a:r>
              <a:rPr lang="en-IN" sz="2400" dirty="0">
                <a:solidFill>
                  <a:schemeClr val="bg1"/>
                </a:solidFill>
              </a:rPr>
              <a:t>Sai Chaitanya - 24BAI1436</a:t>
            </a:r>
          </a:p>
          <a:p>
            <a:r>
              <a:rPr lang="en-IN" sz="2400" dirty="0">
                <a:solidFill>
                  <a:schemeClr val="bg1"/>
                </a:solidFill>
              </a:rPr>
              <a:t>J V Prasad       - 24BAI1045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34c6c18-4ad7-4e7f-8c7d-cff3ba25f78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65B8DAE0642B942BB833EAABF75097C" ma:contentTypeVersion="9" ma:contentTypeDescription="Create a new document." ma:contentTypeScope="" ma:versionID="7eee752413ace48018808fe7e448a0ec">
  <xsd:schema xmlns:xsd="http://www.w3.org/2001/XMLSchema" xmlns:xs="http://www.w3.org/2001/XMLSchema" xmlns:p="http://schemas.microsoft.com/office/2006/metadata/properties" xmlns:ns3="d34c6c18-4ad7-4e7f-8c7d-cff3ba25f783" targetNamespace="http://schemas.microsoft.com/office/2006/metadata/properties" ma:root="true" ma:fieldsID="1a5e1a1fae4a9f5524bee5798ac7a775" ns3:_="">
    <xsd:import namespace="d34c6c18-4ad7-4e7f-8c7d-cff3ba25f783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4c6c18-4ad7-4e7f-8c7d-cff3ba25f783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B2B98B8-3D4F-4714-8DBA-0D8F614EE67F}">
  <ds:schemaRefs>
    <ds:schemaRef ds:uri="http://purl.org/dc/terms/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d34c6c18-4ad7-4e7f-8c7d-cff3ba25f783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22031D1B-FF95-48F7-95A3-798E6FB22B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34c6c18-4ad7-4e7f-8c7d-cff3ba25f78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D3185E2-E753-47F3-9D69-7177EDDA11F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616</Words>
  <Application>Microsoft Office PowerPoint</Application>
  <PresentationFormat>Custom</PresentationFormat>
  <Paragraphs>121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Playfair Display Bold</vt:lpstr>
      <vt:lpstr>Calibri</vt:lpstr>
      <vt:lpstr>Arial</vt:lpstr>
      <vt:lpstr>Montserrat Bold</vt:lpstr>
      <vt:lpstr>Arimo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GLITCHCON 2.0</dc:title>
  <dc:creator>Vinay Sunkara</dc:creator>
  <cp:lastModifiedBy>Sunkara Bala Bagavan Vinay</cp:lastModifiedBy>
  <cp:revision>3</cp:revision>
  <dcterms:created xsi:type="dcterms:W3CDTF">2006-08-16T00:00:00Z</dcterms:created>
  <dcterms:modified xsi:type="dcterms:W3CDTF">2026-03-09T09:10:30Z</dcterms:modified>
  <dc:identifier>DAG7o8SITjs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0x010100265B8DAE0642B942BB833EAABF75097C</vt:lpwstr>
  </property>
</Properties>
</file>